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notesSlides/_rels/notesSlide21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_rels/slideLayout21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7.xml.rels" ContentType="application/vnd.openxmlformats-package.relationships+xml"/>
  <Override PartName="/ppt/slideLayouts/slideLayout25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9.png" ContentType="image/png"/>
  <Override PartName="/ppt/media/image2.jpeg" ContentType="image/jpeg"/>
  <Override PartName="/ppt/media/image3.png" ContentType="image/png"/>
  <Override PartName="/ppt/media/image5.jpeg" ContentType="image/jpeg"/>
  <Override PartName="/ppt/media/image10.jpeg" ContentType="image/jpeg"/>
  <Override PartName="/ppt/media/image4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8.jpeg" ContentType="image/jpeg"/>
  <Override PartName="/ppt/slides/slide29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17.xml.rels" ContentType="application/vnd.openxmlformats-package.relationships+xml"/>
  <Override PartName="/ppt/slides/_rels/slide5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_rels/slide20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26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</p:sldIdLst>
  <p:sldSz cx="12192000" cy="6858000"/>
  <p:notesSz cx="6797675" cy="98742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Pul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se 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par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des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plaz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ar 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dia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posi</a:t>
            </a:r>
            <a:r>
              <a:rPr b="0" lang="es-AR" sz="1400" spc="-1" strike="noStrike">
                <a:solidFill>
                  <a:srgbClr val="000000"/>
                </a:solidFill>
                <a:latin typeface="Arial"/>
              </a:rPr>
              <a:t>tiva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5E14E6-4BF7-488C-A3D8-CFFBE52BA03E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8280" cy="37015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s-AR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42"/>
          </p:nvPr>
        </p:nvSpPr>
        <p:spPr>
          <a:xfrm>
            <a:off x="3849840" y="9379080"/>
            <a:ext cx="2945880" cy="4932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C14FD4-C939-40FB-9252-A8713F81BABF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dt" idx="43"/>
          </p:nvPr>
        </p:nvSpPr>
        <p:spPr>
          <a:xfrm>
            <a:off x="3849840" y="0"/>
            <a:ext cx="2945880" cy="49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buNone/>
            </a:pPr>
            <a:endParaRPr b="0" lang="es-AR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 type="hdr"/>
          </p:nvPr>
        </p:nvSpPr>
        <p:spPr>
          <a:xfrm>
            <a:off x="0" y="0"/>
            <a:ext cx="2945880" cy="49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8280" cy="37015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s-AR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880" cy="49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 type="dt" idx="44"/>
          </p:nvPr>
        </p:nvSpPr>
        <p:spPr>
          <a:xfrm>
            <a:off x="3849840" y="0"/>
            <a:ext cx="2945880" cy="49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PlaceHolder 5"/>
          <p:cNvSpPr>
            <a:spLocks noGrp="1"/>
          </p:cNvSpPr>
          <p:nvPr>
            <p:ph type="ftr" idx="45"/>
          </p:nvPr>
        </p:nvSpPr>
        <p:spPr>
          <a:xfrm>
            <a:off x="0" y="9379080"/>
            <a:ext cx="2945880" cy="4932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PlaceHolder 6"/>
          <p:cNvSpPr>
            <a:spLocks noGrp="1"/>
          </p:cNvSpPr>
          <p:nvPr>
            <p:ph type="sldNum" idx="46"/>
          </p:nvPr>
        </p:nvSpPr>
        <p:spPr>
          <a:xfrm>
            <a:off x="3849840" y="9379080"/>
            <a:ext cx="2945880" cy="4932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DEFCFB-7F28-460E-9072-847FB36C6B76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DE7ED28-B0E2-438D-9DF1-20CD8788548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F80BE2-0F5F-4725-8287-1B405F69B3D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87F5164-9E0C-4A58-89A9-508B7AE862C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15EFB5-6FFF-464B-B154-C0C7C65395A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DE49E55-511E-4F19-83BF-217C4F6A1A07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3FD71DB-4EF5-4515-8B48-7E8BD8E37B0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7AA48A8-5991-41F7-8E3A-86BD1A45792B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16D4677-50D3-4E9E-9B11-2CB8A65D9128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095FC26-7E20-4AA9-854A-EC092D023B6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C6B308-1ED9-4367-99EA-05721E68D99D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24E6BCC-BBC7-4436-813C-815D8AF2B4D0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038ACAD-4820-46F1-88CF-48AC195C131F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F5637CA-CB54-40B9-B2B5-59EB43117E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3C0174D-4004-439E-9CA4-1AE0413756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447027B-3F58-4C4D-89D1-CF8D6FDD80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B423120-F3BB-48AE-BC2F-F264739EA4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7335DB7-BEB1-4A59-BDB6-21E7CE43BC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CD76B5-AB44-45C5-86D0-F6BD7F34EA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6FC2FD8-1D11-4527-B510-1DBD8AB31E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AF607E4-9B43-4791-AA14-5BBA6670B9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824EC97-E08B-487A-92AC-5632BBB52E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59F4B51-2688-43AB-B491-4588D7771D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6844C94-5179-4CB6-8456-C4EC6E04071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E2B6656-E080-4DFA-B840-02C4464997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3D7DF2-9EBC-4869-AA8A-C01A3A576B5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EC8975-2C5E-4E21-AC53-4907C8CADE3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0D13F8-508E-46A4-B2A3-87B19F8B8FC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E69909-2EB9-4717-B717-6057E3AF1105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1C98F9-0C04-42D6-85B1-A3B2F180FF4C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38F65C-2233-4245-89DD-590DCCBC5CF0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DE6E4A-0C46-4360-8FCE-E0CBB873625E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DA60C5-982B-4D58-AC54-26EF768086D5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5D6A86-ACA4-4385-98A0-CEFC158299D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82DBD5E-BF84-4FA1-9A48-03C3773935DA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7F9653-210F-4949-BEFE-062D24B66F1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92CBAF-DD6E-44EF-83DF-E7AB7CCF1789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B88A14-7267-457E-834E-FF23B8A16FDB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5179BA-A5A4-4FE2-9526-7602065F6D5A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143420-7A40-45E7-8D3B-870E8BECD9F7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871AB6-02BE-4D4D-B47C-504545B7E9E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DC296F-19E1-4C36-90C5-74EDBB45BD3E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053AC1-C210-429C-96A4-4BEC2C62187D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4A0898-FC2D-41A8-A1F0-C6E2BD71349C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4BA006-489F-4346-AC80-CF73F1B0D1E2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A8B4A7-5CF6-49EF-B588-7CA5D0EE5B6F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74190B-0568-45B1-841B-0143EB1F91E3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E450C4-D9A6-4A50-9DB2-9FEB7AFA3C61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B84B91-6FFF-435E-9035-1406E307F6BC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DE69DE0-7C36-4ACA-A0F4-5D2184102E25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E3E9C75-08AE-4981-BEDF-0A503C2C03B3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8E06902-4CB3-4A7E-B550-B39FB347FBD4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56D764A-B58A-4300-B796-740DF4E11358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BCA5CD2-A42D-4F2F-8555-E0D5EABEA9C7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D4B34B2-61B7-4EB7-AE90-7708C470B64F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BBB6ED3-E9A0-43E0-A0AB-08F29E88A598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3B41112-03AF-4137-BA9D-7B4AE454840E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D27C4ED-7FA2-430F-A332-444804AA5327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532BDA2-6212-4D49-A2B7-519BBCBF88A4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60350B1-2A02-4E3E-9885-F60998CC55CA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35F7424-E224-4477-BD46-CDC6294212F6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B8D4B8D-0842-428B-95D7-C46930875D61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2AF36D3-DE4A-4B3F-927D-1B98039321F5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65B06B9-D214-4E59-BE1F-C4D7302BFD23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BA62B83-0C48-466E-A1B1-4426D30C9323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1C3F52-E615-423D-9AF0-BA698384F170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566A934-5CA7-4D9E-A474-6E6CB58FCF5C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2A3BA50-3094-4A7E-90C4-66C3CF92E160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F6D013-FE4F-48DF-B2F4-D7FC7F31C624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33D0C1-A1C7-41A8-93DF-60FC17C771BD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BC437A-A8CC-4CC5-86A0-2547D15D8648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2CAD22A-6CA6-44B5-8EDD-70F4C5297CAC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0F08A14-8322-43E2-935D-BA1AACAA6E2D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C9C5F15-952D-4E1D-B5FD-505031088FF8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7CC7618-1D2B-4E78-A7B2-470D6A5E925F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89134D-6E74-466F-B79A-2DBFFA3D74FB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2324654-1A4E-4035-9A99-7C37E1392580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0A3838A-E037-4785-B47F-FAF4F3C85E79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1097280" y="286560"/>
            <a:ext cx="100580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B406ED4-7BCE-4FE5-96FD-D71DCF404015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BF39C9A-7BAF-4911-9039-1CD30820B698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963A432-A6FD-4715-81DC-6E45431BDF8A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546B42-4777-492B-9BBB-B2CB0B438578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1097280" y="3947040"/>
            <a:ext cx="100580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28516E7-5236-4E2B-BDFC-8D93D41F2B7E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109728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6251400" y="3947040"/>
            <a:ext cx="49082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E015A26-2BF0-4446-8D8B-D1562E630A56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49820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899120" y="184572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109728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49820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899120" y="3947040"/>
            <a:ext cx="323856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209965C-514A-4EC4-8197-FCDE2A6717A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3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Ingeniería de software 2025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1;p3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2" name="Google Shape;16;p31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3" name="CuadroTexto 1"/>
          <p:cNvSpPr/>
          <p:nvPr/>
        </p:nvSpPr>
        <p:spPr>
          <a:xfrm>
            <a:off x="6098760" y="6499440"/>
            <a:ext cx="60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54120" y="4737600"/>
            <a:ext cx="10780560" cy="6130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85000"/>
              </a:lnSpc>
              <a:buNone/>
            </a:pPr>
            <a:r>
              <a:rPr b="0" lang="es-ES" sz="3290" spc="-1" strike="noStrike">
                <a:solidFill>
                  <a:srgbClr val="c00000"/>
                </a:solidFill>
                <a:latin typeface="Calibri"/>
                <a:ea typeface="Calibri"/>
              </a:rPr>
              <a:t>Haga clic para </a:t>
            </a:r>
            <a:r>
              <a:rPr b="0" lang="es-ES" sz="3290" spc="-1" strike="noStrike">
                <a:solidFill>
                  <a:srgbClr val="c00000"/>
                </a:solidFill>
                <a:latin typeface="Calibri"/>
                <a:ea typeface="Calibri"/>
              </a:rPr>
              <a:t>modificar el estilo </a:t>
            </a:r>
            <a:r>
              <a:rPr b="0" lang="es-ES" sz="3290" spc="-1" strike="noStrike">
                <a:solidFill>
                  <a:srgbClr val="c00000"/>
                </a:solidFill>
                <a:latin typeface="Calibri"/>
                <a:ea typeface="Calibri"/>
              </a:rPr>
              <a:t>de título del </a:t>
            </a:r>
            <a:r>
              <a:rPr b="0" lang="es-ES" sz="3290" spc="-1" strike="noStrike">
                <a:solidFill>
                  <a:srgbClr val="c00000"/>
                </a:solidFill>
                <a:latin typeface="Calibri"/>
                <a:ea typeface="Calibri"/>
              </a:rPr>
              <a:t>patrón</a:t>
            </a:r>
            <a:endParaRPr b="0" lang="es-AR" sz="32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54120" y="5487840"/>
            <a:ext cx="9228960" cy="5331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455400" indent="0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1790" spc="-1" strike="noStrike">
                <a:solidFill>
                  <a:srgbClr val="c00000"/>
                </a:solidFill>
                <a:latin typeface="Calibri"/>
                <a:ea typeface="Calibri"/>
              </a:rPr>
              <a:t>Haga clic para modificar los estilos de texto del patrón</a:t>
            </a:r>
            <a:endParaRPr b="0" lang="es-AR" sz="1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chemeClr val="accent6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FA9E15-D106-4507-9881-FD85D87924E1}" type="slidenum">
              <a:rPr b="0" lang="es-ES" sz="1050" spc="-1" strike="noStrike">
                <a:solidFill>
                  <a:schemeClr val="accent6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" name="Google Shape;23;p32" descr="2"/>
          <p:cNvPicPr/>
          <p:nvPr/>
        </p:nvPicPr>
        <p:blipFill>
          <a:blip r:embed="rId2"/>
          <a:srcRect l="8461" t="0" r="0" b="0"/>
          <a:stretch/>
        </p:blipFill>
        <p:spPr>
          <a:xfrm>
            <a:off x="23760" y="0"/>
            <a:ext cx="12144240" cy="4277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;p31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Ingeniería de software 2025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11;p31" hidden="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46" name="Google Shape;16;p31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47" name="CuadroTexto 1" hidden="1"/>
          <p:cNvSpPr/>
          <p:nvPr/>
        </p:nvSpPr>
        <p:spPr>
          <a:xfrm>
            <a:off x="6098760" y="6499440"/>
            <a:ext cx="60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146;p42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9" name="Google Shape;147;p42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88000"/>
          </a:bodyPr>
          <a:p>
            <a:pPr indent="0">
              <a:lnSpc>
                <a:spcPct val="85000"/>
              </a:lnSpc>
              <a:buNone/>
            </a:pPr>
            <a:r>
              <a:rPr b="0" lang="es-ES" sz="3590" spc="-1" strike="noStrike">
                <a:solidFill>
                  <a:srgbClr val="ffffff"/>
                </a:solidFill>
                <a:latin typeface="Calibri"/>
                <a:ea typeface="Calibri"/>
              </a:rPr>
              <a:t>Haga clic para </a:t>
            </a:r>
            <a:r>
              <a:rPr b="0" lang="es-ES" sz="3590" spc="-1" strike="noStrike">
                <a:solidFill>
                  <a:srgbClr val="ffffff"/>
                </a:solidFill>
                <a:latin typeface="Calibri"/>
                <a:ea typeface="Calibri"/>
              </a:rPr>
              <a:t>modificar el </a:t>
            </a:r>
            <a:r>
              <a:rPr b="0" lang="es-ES" sz="3590" spc="-1" strike="noStrike">
                <a:solidFill>
                  <a:srgbClr val="ffffff"/>
                </a:solidFill>
                <a:latin typeface="Calibri"/>
                <a:ea typeface="Calibri"/>
              </a:rPr>
              <a:t>estilo de título </a:t>
            </a:r>
            <a:r>
              <a:rPr b="0" lang="es-ES" sz="3590" spc="-1" strike="noStrike">
                <a:solidFill>
                  <a:srgbClr val="ffffff"/>
                </a:solidFill>
                <a:latin typeface="Calibri"/>
                <a:ea typeface="Calibri"/>
              </a:rPr>
              <a:t>del patrón</a:t>
            </a:r>
            <a:endParaRPr b="0" lang="es-AR" sz="3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455400" indent="-341640">
              <a:lnSpc>
                <a:spcPct val="90000"/>
              </a:lnSpc>
              <a:spcBef>
                <a:spcPts val="1196"/>
              </a:spcBef>
              <a:buClr>
                <a:srgbClr val="549e39"/>
              </a:buClr>
              <a:buFont typeface="Calibri"/>
              <a:buChar char=" "/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Haga clic para modificar los estilos de texto del patrón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55400" indent="0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1490" spc="-1" strike="noStrike">
                <a:solidFill>
                  <a:srgbClr val="ffffff"/>
                </a:solidFill>
                <a:latin typeface="Calibri"/>
                <a:ea typeface="Calibri"/>
              </a:rPr>
              <a:t>Haga clic para modificar los estilos de texto del patrón</a:t>
            </a:r>
            <a:endParaRPr b="0" lang="es-AR" sz="1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3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sv-SE" sz="14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sv-SE" sz="1400" spc="-1" strike="noStrike">
                <a:solidFill>
                  <a:schemeClr val="dk2"/>
                </a:solidFill>
                <a:latin typeface="Arial"/>
                <a:ea typeface="Arial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D0A8BD-5011-4651-BFD0-8186AC1678A0}" type="slidenum">
              <a:rPr b="0" lang="es-ES" sz="1050" spc="-1" strike="noStrike">
                <a:solidFill>
                  <a:schemeClr val="dk2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0;p3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Ingeniería de software 2025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1;p3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94" name="Google Shape;16;p31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95" name="CuadroTexto 1"/>
          <p:cNvSpPr/>
          <p:nvPr/>
        </p:nvSpPr>
        <p:spPr>
          <a:xfrm>
            <a:off x="6098760" y="6499440"/>
            <a:ext cx="60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6120" cy="1272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buNone/>
            </a:pP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formato del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27400" y="260640"/>
            <a:ext cx="10858320" cy="5976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5"/>
          </p:nvPr>
        </p:nvSpPr>
        <p:spPr>
          <a:xfrm>
            <a:off x="9266040" y="278100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D8DFEC-B939-4473-B02E-B3A02D122CA0}" type="slidenum">
              <a:rPr b="0" lang="es-E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0;p3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Ingeniería de software 2025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11;p3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137" name="Google Shape;16;p31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138" name="CuadroTexto 1"/>
          <p:cNvSpPr/>
          <p:nvPr/>
        </p:nvSpPr>
        <p:spPr>
          <a:xfrm>
            <a:off x="6098760" y="6499440"/>
            <a:ext cx="60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6000"/>
          </a:bodyPr>
          <a:p>
            <a:pPr indent="0">
              <a:buNone/>
            </a:pP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formato del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ED8C80-7288-4140-A038-238EE310D4A1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39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39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39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39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0;p3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Ingeniería de software 2025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11;p3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180" name="Google Shape;16;p31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181" name="CuadroTexto 1"/>
          <p:cNvSpPr/>
          <p:nvPr/>
        </p:nvSpPr>
        <p:spPr>
          <a:xfrm>
            <a:off x="6098760" y="6499440"/>
            <a:ext cx="60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23520" y="643320"/>
            <a:ext cx="10772280" cy="11289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>
              <a:lnSpc>
                <a:spcPct val="85000"/>
              </a:lnSpc>
              <a:buNone/>
            </a:pPr>
            <a:r>
              <a:rPr b="0" lang="es-ES" sz="2990" spc="-1" strike="noStrike">
                <a:solidFill>
                  <a:srgbClr val="3f3f3f"/>
                </a:solidFill>
                <a:latin typeface="Calibri"/>
                <a:ea typeface="Calibri"/>
              </a:rPr>
              <a:t>Haga clic para </a:t>
            </a:r>
            <a:r>
              <a:rPr b="0" lang="es-ES" sz="2990" spc="-1" strike="noStrike">
                <a:solidFill>
                  <a:srgbClr val="3f3f3f"/>
                </a:solidFill>
                <a:latin typeface="Calibri"/>
                <a:ea typeface="Calibri"/>
              </a:rPr>
              <a:t>modificar el estilo </a:t>
            </a:r>
            <a:r>
              <a:rPr b="0" lang="es-ES" sz="2990" spc="-1" strike="noStrike">
                <a:solidFill>
                  <a:srgbClr val="3f3f3f"/>
                </a:solidFill>
                <a:latin typeface="Calibri"/>
                <a:ea typeface="Calibri"/>
              </a:rPr>
              <a:t>de título del patrón</a:t>
            </a:r>
            <a:endParaRPr b="0" lang="es-AR" sz="29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7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7D161F-9C36-4AAB-8FD7-6ED2F07122A9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623520" y="1902600"/>
            <a:ext cx="9792720" cy="44784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455400" indent="-354240">
              <a:lnSpc>
                <a:spcPct val="90000"/>
              </a:lnSpc>
              <a:spcBef>
                <a:spcPts val="1196"/>
              </a:spcBef>
              <a:buClr>
                <a:srgbClr val="c00000"/>
              </a:buClr>
              <a:buFont typeface="Arial"/>
              <a:buChar char="»"/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Haga clic para modificar los estilos de texto del patrón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5" name="Google Shape;196;p160"/>
          <p:cNvCxnSpPr/>
          <p:nvPr/>
        </p:nvCxnSpPr>
        <p:spPr>
          <a:xfrm>
            <a:off x="623160" y="1772640"/>
            <a:ext cx="10773360" cy="360"/>
          </a:xfrm>
          <a:prstGeom prst="straightConnector1">
            <a:avLst/>
          </a:prstGeom>
          <a:ln w="9525">
            <a:solidFill>
              <a:srgbClr val="517178"/>
            </a:solidFill>
            <a:round/>
          </a:ln>
        </p:spPr>
      </p:cxnSp>
      <p:cxnSp>
        <p:nvCxnSpPr>
          <p:cNvPr id="186" name="Google Shape;200;p160"/>
          <p:cNvCxnSpPr/>
          <p:nvPr/>
        </p:nvCxnSpPr>
        <p:spPr>
          <a:xfrm>
            <a:off x="623160" y="1772640"/>
            <a:ext cx="10773360" cy="360"/>
          </a:xfrm>
          <a:prstGeom prst="straightConnector1">
            <a:avLst/>
          </a:prstGeom>
          <a:ln w="9525">
            <a:solidFill>
              <a:srgbClr val="517178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10;p3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Ingeniería de software 2025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11;p3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225" name="Google Shape;16;p31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226" name="CuadroTexto 1"/>
          <p:cNvSpPr/>
          <p:nvPr/>
        </p:nvSpPr>
        <p:spPr>
          <a:xfrm>
            <a:off x="6098760" y="6499440"/>
            <a:ext cx="60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23520" y="64332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>
              <a:buNone/>
            </a:pP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ul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ar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ta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at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tít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ul</a:t>
            </a:r>
            <a:r>
              <a:rPr b="0" lang="es-AR" sz="2990" spc="-1" strike="noStrike">
                <a:solidFill>
                  <a:srgbClr val="000000"/>
                </a:solidFill>
                <a:latin typeface="Arial"/>
              </a:rPr>
              <a:t>o</a:t>
            </a:r>
            <a:endParaRPr b="0" lang="es-AR" sz="29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sldNum" idx="8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12B619-5530-421B-A58A-51A0996FC2D5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6636240" y="6543360"/>
            <a:ext cx="21621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82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82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82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82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82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82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82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body"/>
          </p:nvPr>
        </p:nvSpPr>
        <p:spPr>
          <a:xfrm>
            <a:off x="623520" y="1902600"/>
            <a:ext cx="9792720" cy="44784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10;p3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Ingeniería de software 2025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11;p31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269" name="Google Shape;16;p31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270" name="CuadroTexto 1"/>
          <p:cNvSpPr/>
          <p:nvPr/>
        </p:nvSpPr>
        <p:spPr>
          <a:xfrm>
            <a:off x="6098760" y="6499440"/>
            <a:ext cx="60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000" spc="-1" strike="noStrike">
                <a:solidFill>
                  <a:srgbClr val="ffffff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6000"/>
          </a:bodyPr>
          <a:p>
            <a:pPr indent="0">
              <a:buNone/>
            </a:pP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it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tí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s-AR" sz="4800" spc="-1" strike="noStrike">
                <a:solidFill>
                  <a:srgbClr val="000000"/>
                </a:solidFill>
                <a:latin typeface="Arial"/>
              </a:rPr>
              <a:t>o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B4856A-FEFE-43F3-B8D6-33F7D39822E9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6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6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54120" y="4737600"/>
            <a:ext cx="10780560" cy="6130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3290" spc="-1" strike="noStrike">
                <a:solidFill>
                  <a:srgbClr val="c00000"/>
                </a:solidFill>
                <a:latin typeface="Calibri"/>
                <a:ea typeface="Calibri"/>
              </a:rPr>
              <a:t>Ingeniería de Software I</a:t>
            </a:r>
            <a:endParaRPr b="0" lang="es-AR" sz="32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654120" y="5487840"/>
            <a:ext cx="9228960" cy="533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790" spc="-1" strike="noStrike">
                <a:solidFill>
                  <a:srgbClr val="c00000"/>
                </a:solidFill>
                <a:latin typeface="Calibri"/>
                <a:ea typeface="Calibri"/>
              </a:rPr>
              <a:t>2025</a:t>
            </a:r>
            <a:endParaRPr b="0" lang="es-AR" sz="17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74520" y="1645920"/>
            <a:ext cx="4074840" cy="2422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ffffff"/>
                </a:solidFill>
                <a:latin typeface="Calibri"/>
                <a:ea typeface="Calibri"/>
              </a:rPr>
              <a:t>Técnicas de especificación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847400" y="533160"/>
            <a:ext cx="6491880" cy="895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54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</a:t>
            </a:r>
            <a:endParaRPr b="0" lang="es-A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6F80D7-2D83-4C65-8334-83FF3484B85C}" type="slidenum">
              <a:rPr b="0" lang="es-ES" sz="1050" spc="-1" strike="noStrike">
                <a:solidFill>
                  <a:schemeClr val="dk2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1" name="Imagen 3" descr="Imagen de la pantalla de un video juego&#10;&#10;Descripción generada automáticamente con confianza media"/>
          <p:cNvPicPr/>
          <p:nvPr/>
        </p:nvPicPr>
        <p:blipFill>
          <a:blip r:embed="rId1"/>
          <a:stretch/>
        </p:blipFill>
        <p:spPr>
          <a:xfrm>
            <a:off x="5429160" y="1429560"/>
            <a:ext cx="5126760" cy="512676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414;p2" descr="Papel reciclado"/>
          <p:cNvPicPr/>
          <p:nvPr/>
        </p:nvPicPr>
        <p:blipFill>
          <a:blip r:embed="rId1"/>
          <a:srcRect l="6007" t="5564" r="5574" b="6702"/>
          <a:stretch/>
        </p:blipFill>
        <p:spPr>
          <a:xfrm>
            <a:off x="2495520" y="2419560"/>
            <a:ext cx="7084080" cy="3673440"/>
          </a:xfrm>
          <a:prstGeom prst="rect">
            <a:avLst/>
          </a:prstGeom>
          <a:ln w="0">
            <a:noFill/>
          </a:ln>
        </p:spPr>
      </p:pic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6120" cy="1272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6745680" y="6542640"/>
            <a:ext cx="2520000" cy="31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68760" indent="-68760">
              <a:lnSpc>
                <a:spcPct val="85000"/>
              </a:lnSpc>
              <a:buClr>
                <a:srgbClr val="549e39"/>
              </a:buClr>
              <a:buFont typeface="Calibri"/>
              <a:buChar char="»"/>
            </a:pPr>
            <a:r>
              <a:rPr b="0" lang="es-ES" sz="1400" spc="-1" strike="noStrike">
                <a:solidFill>
                  <a:srgbClr val="3f3f3f"/>
                </a:solidFill>
                <a:latin typeface="Calibri"/>
                <a:ea typeface="Calibri"/>
              </a:rPr>
              <a:t>Sommerville, Capítulo 7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4"/>
          </p:nvPr>
        </p:nvSpPr>
        <p:spPr>
          <a:xfrm>
            <a:off x="9266040" y="278100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3B865F-4CF5-43D1-99A7-9DA159B3A4B2}" type="slidenum">
              <a:rPr b="0" lang="es-E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Google Shape;419;p2"/>
          <p:cNvSpPr/>
          <p:nvPr/>
        </p:nvSpPr>
        <p:spPr>
          <a:xfrm>
            <a:off x="5701680" y="2555640"/>
            <a:ext cx="2304000" cy="1439640"/>
          </a:xfrm>
          <a:prstGeom prst="ellipse">
            <a:avLst/>
          </a:prstGeom>
          <a:noFill/>
          <a:ln w="63500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Técnicas de Especificación de Requerimientos Dinámicas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3DAB68-6D51-4A5F-B6F6-1DE80BDFC7A9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1066680" y="1914120"/>
            <a:ext cx="10058040" cy="4022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57200" indent="-457200">
              <a:lnSpc>
                <a:spcPct val="85000"/>
              </a:lnSpc>
              <a:buClr>
                <a:srgbClr val="8ab833"/>
              </a:buClr>
              <a:buSzPct val="90000"/>
              <a:buFont typeface="Wingdings" charset="2"/>
              <a:buChar char=""/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Es una herramienta que permite presentar de forma concisa las reglas lógicas que hay que utilizar para decidir acciones a ejecutar en función de las condiciones y la lógica de decisión de un problema específico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85000"/>
              </a:lnSpc>
              <a:spcBef>
                <a:spcPts val="975"/>
              </a:spcBef>
              <a:buClr>
                <a:srgbClr val="8ab833"/>
              </a:buClr>
              <a:buSzPct val="90000"/>
              <a:buFont typeface="Wingdings" charset="2"/>
              <a:buChar char=""/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Describe el sistema como un conjunto de: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Posibles </a:t>
            </a:r>
            <a:r>
              <a:rPr b="0" lang="es-ES" sz="2400" spc="-1" strike="noStrike">
                <a:solidFill>
                  <a:srgbClr val="ff0000"/>
                </a:solidFill>
                <a:latin typeface="Calibri"/>
                <a:ea typeface="Calibri"/>
              </a:rPr>
              <a:t>CONDICIONES 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satisfechas por el sistema en un momento dado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s-ES" sz="2400" spc="-1" strike="noStrike">
                <a:solidFill>
                  <a:srgbClr val="ff0000"/>
                </a:solidFill>
                <a:latin typeface="Calibri"/>
                <a:ea typeface="Calibri"/>
              </a:rPr>
              <a:t>REGLAS 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para reaccionar ante los estímulos que ocurren cuando se reúnen determinados conjuntos de condiciones y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s-ES" sz="2400" spc="-1" strike="noStrike">
                <a:solidFill>
                  <a:srgbClr val="ff0000"/>
                </a:solidFill>
                <a:latin typeface="Calibri"/>
                <a:ea typeface="Calibri"/>
              </a:rPr>
              <a:t>ACCIONES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 a ser tomadas como un resultado.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Técnicas de Especificación de Requerimientos Dinámicas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16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A054CF-6B80-4551-97F7-89799CE0AB6B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/>
          </p:nvPr>
        </p:nvSpPr>
        <p:spPr>
          <a:xfrm>
            <a:off x="1097280" y="1980000"/>
            <a:ext cx="10058040" cy="4022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Construiremos las tablas con: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condiciones simples y acciones simples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Las condiciones toman sólo valores Verdadero o Falso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Hay 2</a:t>
            </a:r>
            <a:r>
              <a:rPr b="0" lang="es-ES" sz="2800" spc="-1" strike="noStrike" baseline="30000">
                <a:solidFill>
                  <a:srgbClr val="3f3f3f"/>
                </a:solidFill>
                <a:latin typeface="Calibri"/>
                <a:ea typeface="Calibri"/>
              </a:rPr>
              <a:t>N</a:t>
            </a: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 Reglas donde N es la cantidad de condiciones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3" name="Google Shape;436;p6"/>
          <p:cNvGraphicFramePr/>
          <p:nvPr/>
        </p:nvGraphicFramePr>
        <p:xfrm>
          <a:off x="7229160" y="4344480"/>
          <a:ext cx="3325320" cy="1899720"/>
        </p:xfrm>
        <a:graphic>
          <a:graphicData uri="http://schemas.openxmlformats.org/drawingml/2006/table">
            <a:tbl>
              <a:tblPr/>
              <a:tblGrid>
                <a:gridCol w="979920"/>
                <a:gridCol w="702360"/>
                <a:gridCol w="712800"/>
                <a:gridCol w="929520"/>
              </a:tblGrid>
              <a:tr h="2300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REGLA1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REGLA2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…………</a:t>
                      </a:r>
                      <a:r>
                        <a:rPr b="0" lang="es-ES" sz="1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.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300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COND1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</a:tr>
              <a:tr h="2300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COND2</a:t>
                      </a: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	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</a:tr>
              <a:tr h="2300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………</a:t>
                      </a: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..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</a:tr>
              <a:tr h="2300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ACCION1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</a:tr>
              <a:tr h="2300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s-ES" sz="1100" spc="-1" strike="noStrike">
                          <a:solidFill>
                            <a:schemeClr val="lt1"/>
                          </a:solidFill>
                          <a:latin typeface="Calibri Light"/>
                          <a:ea typeface="Calibri Light"/>
                        </a:rPr>
                        <a:t>ACCION2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caca"/>
                    </a:solidFill>
                  </a:tcPr>
                </a:tc>
              </a:tr>
              <a:tr h="23004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………</a:t>
                      </a:r>
                      <a:r>
                        <a:rPr b="0" lang="es-ES" sz="1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..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s-ES" sz="11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 </a:t>
                      </a:r>
                      <a:endParaRPr b="0" lang="es-A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6"/>
                    </a:solidFill>
                  </a:tcPr>
                </a:tc>
              </a:tr>
            </a:tbl>
          </a:graphicData>
        </a:graphic>
      </p:graphicFrame>
      <p:sp>
        <p:nvSpPr>
          <p:cNvPr id="334" name="CuadroTexto 1"/>
          <p:cNvSpPr/>
          <p:nvPr/>
        </p:nvSpPr>
        <p:spPr>
          <a:xfrm>
            <a:off x="6670440" y="6453720"/>
            <a:ext cx="42472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00" spc="-1" strike="noStrike">
                <a:solidFill>
                  <a:srgbClr val="000000"/>
                </a:solidFill>
                <a:latin typeface="Arial"/>
                <a:ea typeface="Arial"/>
              </a:rPr>
              <a:t>Kendall &amp; Kendall , Capítulo 9 , Análisis y Diseño de Sistemas, Pearson Prentice Hall 2011 . 8va edición</a:t>
            </a:r>
            <a:endParaRPr b="0" lang="es-AR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1097280" y="520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54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sldNum" idx="17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1A47EC-CF13-430A-8210-233ED4C7D099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/>
          </p:nvPr>
        </p:nvSpPr>
        <p:spPr>
          <a:xfrm>
            <a:off x="1708200" y="1814400"/>
            <a:ext cx="10483560" cy="4198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85000"/>
              </a:lnSpc>
              <a:buClr>
                <a:srgbClr val="8ab833"/>
              </a:buClr>
              <a:buSzPct val="90000"/>
              <a:buFont typeface="Wingdings" charset="2"/>
              <a:buChar char=""/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¿Cómo se llena la tabla?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A partir de un enunciado se debe: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1" marL="86868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las condiciones y las acciones.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1" marL="86868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Completar la tabla teniendo en cuenta: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3444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AutoNum type="alphaLcParenR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Si hay condiciones que son opuestas, debe colocarse una de ellas porque por la negativa se “obtendrá” la otra. (Si son n condiciones excluyentes, colocar n-1 en la tabla).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3444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AutoNum type="alphaLcParenR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Las condiciones deben ser atómicas.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1" marL="868680" indent="-457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Se construyen las reglas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9FF16B-9CB5-42E6-BD3D-DE4D75FAD3BC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1271520" y="1882080"/>
            <a:ext cx="964836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Modelizar el problema de remisión de mercadería con las siguientes consideraciones: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Si el comprador no es cliente se imprime un mensaje de aviso y no se remite.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Si no hay stock y el comprador es cliente no se remite.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Si hay stock y el comprador es cliente se remite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452;p8"/>
          <p:cNvSpPr/>
          <p:nvPr/>
        </p:nvSpPr>
        <p:spPr>
          <a:xfrm>
            <a:off x="1097280" y="680760"/>
            <a:ext cx="10323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48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453;p8"/>
          <p:cNvSpPr/>
          <p:nvPr/>
        </p:nvSpPr>
        <p:spPr>
          <a:xfrm>
            <a:off x="1497960" y="2986560"/>
            <a:ext cx="9522000" cy="189144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c0000">
                <a:alpha val="9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40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ldNum" idx="19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BD1797-849D-4685-961E-486F90C84E51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1535040" y="1936800"/>
            <a:ext cx="10656360" cy="809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2" marL="457200" indent="-457200">
              <a:lnSpc>
                <a:spcPct val="85000"/>
              </a:lnSpc>
              <a:buClr>
                <a:srgbClr val="262626"/>
              </a:buClr>
              <a:buFont typeface="Calibri"/>
              <a:buAutoNum type="arabicPeriod"/>
            </a:pPr>
            <a:r>
              <a:rPr b="1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las condiciones y las acciones.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45" name="Google Shape;460;p9"/>
          <p:cNvGraphicFramePr/>
          <p:nvPr/>
        </p:nvGraphicFramePr>
        <p:xfrm>
          <a:off x="4019760" y="3638880"/>
          <a:ext cx="3537000" cy="893520"/>
        </p:xfrm>
        <a:graphic>
          <a:graphicData uri="http://schemas.openxmlformats.org/drawingml/2006/table">
            <a:tbl>
              <a:tblPr/>
              <a:tblGrid>
                <a:gridCol w="3537000"/>
              </a:tblGrid>
              <a:tr h="293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2400" spc="-1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</a:rPr>
                        <a:t>Es cliente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2400" spc="-1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</a:rPr>
                        <a:t>Hay stock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6" name="Google Shape;461;p9"/>
          <p:cNvSpPr/>
          <p:nvPr/>
        </p:nvSpPr>
        <p:spPr>
          <a:xfrm>
            <a:off x="3536640" y="3437640"/>
            <a:ext cx="638280" cy="1225080"/>
          </a:xfrm>
          <a:prstGeom prst="leftBrace">
            <a:avLst>
              <a:gd name="adj1" fmla="val 20864"/>
              <a:gd name="adj2" fmla="val 50000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rgbClr val="313543"/>
              </a:solidFill>
              <a:latin typeface="Times New Roman"/>
              <a:ea typeface="Times New Roman"/>
            </a:endParaRPr>
          </a:p>
        </p:txBody>
      </p:sp>
      <p:sp>
        <p:nvSpPr>
          <p:cNvPr id="347" name="Google Shape;462;p9"/>
          <p:cNvSpPr/>
          <p:nvPr/>
        </p:nvSpPr>
        <p:spPr>
          <a:xfrm>
            <a:off x="3536640" y="4794480"/>
            <a:ext cx="482760" cy="1296720"/>
          </a:xfrm>
          <a:prstGeom prst="leftBrace">
            <a:avLst>
              <a:gd name="adj1" fmla="val 29236"/>
              <a:gd name="adj2" fmla="val 50000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348" name="Google Shape;463;p9"/>
          <p:cNvSpPr/>
          <p:nvPr/>
        </p:nvSpPr>
        <p:spPr>
          <a:xfrm>
            <a:off x="1339920" y="3836160"/>
            <a:ext cx="254304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2800" spc="-1" strike="noStrike">
                <a:solidFill>
                  <a:srgbClr val="313543"/>
                </a:solidFill>
                <a:latin typeface="Calibri"/>
                <a:ea typeface="Calibri"/>
              </a:rPr>
              <a:t>Condiciones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464;p9"/>
          <p:cNvSpPr/>
          <p:nvPr/>
        </p:nvSpPr>
        <p:spPr>
          <a:xfrm>
            <a:off x="1339920" y="4919760"/>
            <a:ext cx="240732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2800" spc="-1" strike="noStrike">
                <a:solidFill>
                  <a:srgbClr val="313543"/>
                </a:solidFill>
                <a:latin typeface="Calibri"/>
                <a:ea typeface="Calibri"/>
              </a:rPr>
              <a:t>Acciones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0" name="Google Shape;465;p9"/>
          <p:cNvGraphicFramePr/>
          <p:nvPr/>
        </p:nvGraphicFramePr>
        <p:xfrm>
          <a:off x="4019760" y="4698720"/>
          <a:ext cx="3537000" cy="1738440"/>
        </p:xfrm>
        <a:graphic>
          <a:graphicData uri="http://schemas.openxmlformats.org/drawingml/2006/table">
            <a:tbl>
              <a:tblPr/>
              <a:tblGrid>
                <a:gridCol w="3537000"/>
              </a:tblGrid>
              <a:tr h="36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2400" spc="-1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</a:rPr>
                        <a:t>Imprime mensaje de aviso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2400" spc="-1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</a:rPr>
                        <a:t>Se remite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2400" spc="-1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</a:rPr>
                        <a:t>No se remite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1" name="Google Shape;466;p9"/>
          <p:cNvGraphicFramePr/>
          <p:nvPr/>
        </p:nvGraphicFramePr>
        <p:xfrm>
          <a:off x="7604280" y="3633840"/>
          <a:ext cx="1439640" cy="915120"/>
        </p:xfrm>
        <a:graphic>
          <a:graphicData uri="http://schemas.openxmlformats.org/drawingml/2006/table">
            <a:tbl>
              <a:tblPr/>
              <a:tblGrid>
                <a:gridCol w="360000"/>
                <a:gridCol w="358560"/>
                <a:gridCol w="361800"/>
                <a:gridCol w="358560"/>
              </a:tblGrid>
              <a:tr h="293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2" name="Google Shape;467;p9"/>
          <p:cNvSpPr/>
          <p:nvPr/>
        </p:nvSpPr>
        <p:spPr>
          <a:xfrm>
            <a:off x="7884720" y="3176280"/>
            <a:ext cx="13377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Reglas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3" name="Google Shape;468;p9"/>
          <p:cNvGraphicFramePr/>
          <p:nvPr/>
        </p:nvGraphicFramePr>
        <p:xfrm>
          <a:off x="7604280" y="4698720"/>
          <a:ext cx="1439640" cy="1372680"/>
        </p:xfrm>
        <a:graphic>
          <a:graphicData uri="http://schemas.openxmlformats.org/drawingml/2006/table">
            <a:tbl>
              <a:tblPr/>
              <a:tblGrid>
                <a:gridCol w="360000"/>
                <a:gridCol w="358560"/>
                <a:gridCol w="361800"/>
                <a:gridCol w="358560"/>
              </a:tblGrid>
              <a:tr h="360360">
                <a:tc>
                  <a:txBody>
                    <a:bodyPr anchor="t">
                      <a:noAutofit/>
                    </a:bodyPr>
                    <a:p>
                      <a:endParaRPr b="0" lang="es-AR" sz="24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24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24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24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24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endParaRPr b="0" lang="es-AR" sz="24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4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4" name="Google Shape;469;p9"/>
          <p:cNvSpPr/>
          <p:nvPr/>
        </p:nvSpPr>
        <p:spPr>
          <a:xfrm>
            <a:off x="540000" y="2340000"/>
            <a:ext cx="7560000" cy="900000"/>
          </a:xfrm>
          <a:prstGeom prst="rect">
            <a:avLst/>
          </a:prstGeom>
          <a:solidFill>
            <a:srgbClr val="ff9999"/>
          </a:solidFill>
          <a:ln w="12700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500" spc="-1" strike="noStrike">
                <a:solidFill>
                  <a:schemeClr val="dk1"/>
                </a:solidFill>
                <a:latin typeface="Calibri"/>
                <a:ea typeface="Calibri"/>
              </a:rPr>
              <a:t>Si el comprador no es cliente se imprime un mensaje de aviso y no se remite.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500" spc="-1" strike="noStrike">
                <a:solidFill>
                  <a:schemeClr val="dk1"/>
                </a:solidFill>
                <a:latin typeface="Calibri"/>
                <a:ea typeface="Calibri"/>
              </a:rPr>
              <a:t>Si no hay stock y el comprador es cliente no se remite.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500" spc="-1" strike="noStrike">
                <a:solidFill>
                  <a:schemeClr val="dk1"/>
                </a:solidFill>
                <a:latin typeface="Calibri"/>
                <a:ea typeface="Calibri"/>
              </a:rPr>
              <a:t>Si hay stock y el comprador es cliente se remite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470;p9"/>
          <p:cNvSpPr/>
          <p:nvPr/>
        </p:nvSpPr>
        <p:spPr>
          <a:xfrm>
            <a:off x="9222480" y="2739240"/>
            <a:ext cx="2117520" cy="1301040"/>
          </a:xfrm>
          <a:prstGeom prst="roundRect">
            <a:avLst>
              <a:gd name="adj" fmla="val 16667"/>
            </a:avLst>
          </a:prstGeom>
          <a:solidFill>
            <a:srgbClr val="bbcfb9"/>
          </a:solidFill>
          <a:ln w="0">
            <a:noFill/>
          </a:ln>
          <a:effectLst>
            <a:outerShdw algn="bl" blurRad="50760" dir="189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2</a:t>
            </a:r>
            <a:r>
              <a:rPr b="1" lang="es-ES" sz="3200" spc="-1" strike="noStrike" baseline="30000">
                <a:solidFill>
                  <a:schemeClr val="dk1"/>
                </a:solidFill>
                <a:latin typeface="Calibri"/>
                <a:ea typeface="Calibri"/>
              </a:rPr>
              <a:t>n</a:t>
            </a:r>
            <a:r>
              <a:rPr b="1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 Reglas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40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ldNum" idx="20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8EF01E-85B7-4617-A484-AE5585588C88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1097280" y="2010240"/>
            <a:ext cx="10631880" cy="4176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1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Especificaciones completas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Aquellas que determinan acciones (una o varias) para todas las reglas posibles.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1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Especificaciones redundantes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Aquellas que marcan para reglas que determinan las mismas condiciones acciones iguales.     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1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Especificaciones contradictorias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Aquellas que especifican para reglas que determinan las mismas condiciones acciones distintas.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BF2B9F-E5E2-41C0-B8F7-597000363D20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2133720" y="1906560"/>
            <a:ext cx="10058040" cy="4022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Redundancia y Contradicción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1" name="Google Shape;489;p11"/>
          <p:cNvGraphicFramePr/>
          <p:nvPr/>
        </p:nvGraphicFramePr>
        <p:xfrm>
          <a:off x="6648840" y="2565000"/>
          <a:ext cx="3526920" cy="3096000"/>
        </p:xfrm>
        <a:graphic>
          <a:graphicData uri="http://schemas.openxmlformats.org/drawingml/2006/table">
            <a:tbl>
              <a:tblPr/>
              <a:tblGrid>
                <a:gridCol w="528480"/>
                <a:gridCol w="406080"/>
                <a:gridCol w="360000"/>
                <a:gridCol w="215640"/>
                <a:gridCol w="288720"/>
                <a:gridCol w="502920"/>
                <a:gridCol w="504720"/>
                <a:gridCol w="718920"/>
              </a:tblGrid>
              <a:tr h="384480"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7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i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Reglas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72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C1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442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C2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442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C3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384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A1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384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A2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385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A3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2" name="Google Shape;490;p11"/>
          <p:cNvGraphicFramePr/>
          <p:nvPr/>
        </p:nvGraphicFramePr>
        <p:xfrm>
          <a:off x="1991520" y="2637000"/>
          <a:ext cx="3672000" cy="2985480"/>
        </p:xfrm>
        <a:graphic>
          <a:graphicData uri="http://schemas.openxmlformats.org/drawingml/2006/table">
            <a:tbl>
              <a:tblPr/>
              <a:tblGrid>
                <a:gridCol w="682920"/>
                <a:gridCol w="526320"/>
                <a:gridCol w="465480"/>
                <a:gridCol w="279720"/>
                <a:gridCol w="374400"/>
                <a:gridCol w="424800"/>
                <a:gridCol w="458640"/>
                <a:gridCol w="458640"/>
              </a:tblGrid>
              <a:tr h="514080"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7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i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Reglas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8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C1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C2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403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C3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332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A1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37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A2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  <a:tr h="331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A3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.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solidFill>
                      <a:srgbClr val="44fca9"/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491;p11"/>
          <p:cNvSpPr/>
          <p:nvPr/>
        </p:nvSpPr>
        <p:spPr>
          <a:xfrm>
            <a:off x="2999520" y="5661360"/>
            <a:ext cx="1400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rgbClr val="313543"/>
                </a:solidFill>
                <a:latin typeface="Calibri"/>
                <a:ea typeface="Calibri"/>
              </a:rPr>
              <a:t>Redundante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492;p11"/>
          <p:cNvSpPr/>
          <p:nvPr/>
        </p:nvSpPr>
        <p:spPr>
          <a:xfrm>
            <a:off x="7536240" y="5733360"/>
            <a:ext cx="160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rgbClr val="313543"/>
                </a:solidFill>
                <a:latin typeface="Calibri"/>
                <a:ea typeface="Calibri"/>
              </a:rPr>
              <a:t>Contradictoria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Google Shape;493;p11"/>
          <p:cNvSpPr/>
          <p:nvPr/>
        </p:nvSpPr>
        <p:spPr>
          <a:xfrm>
            <a:off x="1266120" y="352080"/>
            <a:ext cx="10323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</a:t>
            </a:r>
            <a:br>
              <a:rPr sz="40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uadroTexto 1"/>
          <p:cNvSpPr/>
          <p:nvPr/>
        </p:nvSpPr>
        <p:spPr>
          <a:xfrm>
            <a:off x="6670440" y="6497280"/>
            <a:ext cx="42472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00" spc="-1" strike="noStrike">
                <a:solidFill>
                  <a:srgbClr val="000000"/>
                </a:solidFill>
                <a:latin typeface="Arial"/>
                <a:ea typeface="Arial"/>
              </a:rPr>
              <a:t>Kendall &amp; Kendall , Capítulo 9 , Análisis y Diseño de Sistemas, Pearson Prentice Hall 2011 . 8va edición</a:t>
            </a:r>
            <a:endParaRPr b="0" lang="es-AR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40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Num" idx="22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66D1DB-2D01-4D32-8207-D69351DF3381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1097280" y="1920600"/>
            <a:ext cx="9937440" cy="217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Reducción de Complejidad (Redundancia)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Combine las reglas en donde sea evidente que una alternativa no representa una diferencia en el resultado.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El guion [—] significa que la condición 2 puede ser V o F, y que aun así se realizará la acción.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0" name="Google Shape;500;p12"/>
          <p:cNvGraphicFramePr/>
          <p:nvPr/>
        </p:nvGraphicFramePr>
        <p:xfrm>
          <a:off x="2432160" y="4293000"/>
          <a:ext cx="3214080" cy="1162080"/>
        </p:xfrm>
        <a:graphic>
          <a:graphicData uri="http://schemas.openxmlformats.org/drawingml/2006/table">
            <a:tbl>
              <a:tblPr/>
              <a:tblGrid>
                <a:gridCol w="1955880"/>
                <a:gridCol w="719280"/>
                <a:gridCol w="538920"/>
              </a:tblGrid>
              <a:tr h="252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</a:rPr>
                        <a:t>Condición 1: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Arial"/>
                        </a:rPr>
                        <a:t>V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Arial"/>
                        </a:rPr>
                        <a:t>V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</a:rPr>
                        <a:t>Condición 2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Arial"/>
                        </a:rPr>
                        <a:t>V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Arial"/>
                        </a:rPr>
                        <a:t>F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</a:rPr>
                        <a:t>Acción 1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1" name="Google Shape;501;p12"/>
          <p:cNvGraphicFramePr/>
          <p:nvPr/>
        </p:nvGraphicFramePr>
        <p:xfrm>
          <a:off x="6095880" y="4293000"/>
          <a:ext cx="2735280" cy="1162080"/>
        </p:xfrm>
        <a:graphic>
          <a:graphicData uri="http://schemas.openxmlformats.org/drawingml/2006/table">
            <a:tbl>
              <a:tblPr/>
              <a:tblGrid>
                <a:gridCol w="2052720"/>
                <a:gridCol w="682200"/>
              </a:tblGrid>
              <a:tr h="335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Condición 1: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rgbClr val="313543"/>
                          </a:solidFill>
                          <a:latin typeface="Libre Baskerville"/>
                          <a:ea typeface="Arial"/>
                        </a:rPr>
                        <a:t>V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Condición 2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_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Acción 1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20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23520" y="643320"/>
            <a:ext cx="10772280" cy="1128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40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919440" y="1826280"/>
            <a:ext cx="9792720" cy="4478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Reducción de Complejidad (Redundancia)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Álgebra de Boole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4" name="Google Shape;510;p13"/>
          <p:cNvGraphicFramePr/>
          <p:nvPr/>
        </p:nvGraphicFramePr>
        <p:xfrm>
          <a:off x="2639520" y="3213000"/>
          <a:ext cx="4865760" cy="2482200"/>
        </p:xfrm>
        <a:graphic>
          <a:graphicData uri="http://schemas.openxmlformats.org/drawingml/2006/table">
            <a:tbl>
              <a:tblPr/>
              <a:tblGrid>
                <a:gridCol w="3426120"/>
                <a:gridCol w="360360"/>
                <a:gridCol w="358560"/>
                <a:gridCol w="361800"/>
                <a:gridCol w="358560"/>
              </a:tblGrid>
              <a:tr h="358560"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chemeClr val="dk1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i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Reglas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93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Es cliente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Hay stock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Imprime mensaje de aviso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4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Se remite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No se remite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5" name="Google Shape;511;p13"/>
          <p:cNvGraphicFramePr/>
          <p:nvPr/>
        </p:nvGraphicFramePr>
        <p:xfrm>
          <a:off x="8031600" y="3213000"/>
          <a:ext cx="1294920" cy="2226960"/>
        </p:xfrm>
        <a:graphic>
          <a:graphicData uri="http://schemas.openxmlformats.org/drawingml/2006/table">
            <a:tbl>
              <a:tblPr/>
              <a:tblGrid>
                <a:gridCol w="446040"/>
                <a:gridCol w="417240"/>
                <a:gridCol w="431640"/>
              </a:tblGrid>
              <a:tr h="338040">
                <a:tc gridSpan="3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i="1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Reglas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V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F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_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0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880">
                <a:tc>
                  <a:txBody>
                    <a:bodyPr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ES" sz="1800" spc="-1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</a:rPr>
                        <a:t>X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2808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6" name="PlaceHolder 3"/>
          <p:cNvSpPr>
            <a:spLocks noGrp="1"/>
          </p:cNvSpPr>
          <p:nvPr>
            <p:ph type="sldNum" idx="23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F765FB-CC3C-49C7-A57B-983BBC2AAB5A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4000"/>
            </a:b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D6FF0A-9DF8-459A-8A61-A083883E28DC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Google Shape;519;p14"/>
          <p:cNvSpPr/>
          <p:nvPr/>
        </p:nvSpPr>
        <p:spPr>
          <a:xfrm>
            <a:off x="1036440" y="1766520"/>
            <a:ext cx="1066752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lvl="1" marL="743040" indent="-7430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s-ES" sz="2800" spc="-1" strike="noStrike">
                <a:solidFill>
                  <a:srgbClr val="313543"/>
                </a:solidFill>
                <a:latin typeface="Calibri"/>
                <a:ea typeface="Calibri"/>
              </a:rPr>
              <a:t>Identificar las condiciones y las acciones.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520;p14"/>
          <p:cNvSpPr/>
          <p:nvPr/>
        </p:nvSpPr>
        <p:spPr>
          <a:xfrm>
            <a:off x="1471680" y="2455200"/>
            <a:ext cx="8260920" cy="1688760"/>
          </a:xfrm>
          <a:prstGeom prst="rect">
            <a:avLst/>
          </a:prstGeom>
          <a:solidFill>
            <a:srgbClr val="b9cd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chemeClr val="dk1"/>
                </a:solidFill>
                <a:latin typeface="Calibri"/>
                <a:ea typeface="Calibri"/>
              </a:rPr>
              <a:t>Se quiere determinar el incremento en el salario de los empleados de acuerdo con estos criterios: 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500" spc="-1" strike="noStrike">
                <a:solidFill>
                  <a:schemeClr val="dk1"/>
                </a:solidFill>
                <a:latin typeface="Calibri"/>
                <a:ea typeface="Calibri"/>
              </a:rPr>
              <a:t>Si el empleado es altamente productivo tendrá un plus de productividad. 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500" spc="-1" strike="noStrike">
                <a:solidFill>
                  <a:schemeClr val="dk1"/>
                </a:solidFill>
                <a:latin typeface="Calibri"/>
                <a:ea typeface="Calibri"/>
              </a:rPr>
              <a:t>Si el empleado es encargado de su grupo tendrá un plus de encargado. 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500" spc="-1" strike="noStrike">
                <a:solidFill>
                  <a:schemeClr val="dk1"/>
                </a:solidFill>
                <a:latin typeface="Calibri"/>
                <a:ea typeface="Calibri"/>
              </a:rPr>
              <a:t>Si el empleado ha cometido una infracción grave durante ese mes le será eliminado cualquier plus que pudiera tener y se le descontará un 10% de su salario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1" name="Google Shape;521;p14"/>
          <p:cNvGraphicFramePr/>
          <p:nvPr/>
        </p:nvGraphicFramePr>
        <p:xfrm>
          <a:off x="1471680" y="4848120"/>
          <a:ext cx="4525920" cy="1427040"/>
        </p:xfrm>
        <a:graphic>
          <a:graphicData uri="http://schemas.openxmlformats.org/drawingml/2006/table">
            <a:tbl>
              <a:tblPr/>
              <a:tblGrid>
                <a:gridCol w="4526280"/>
              </a:tblGrid>
              <a:tr h="293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Empleado altamente productivo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Empleado encargado de su grupo 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Empleado ha cometido una infracción grave 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2" name="Google Shape;522;p14"/>
          <p:cNvSpPr/>
          <p:nvPr/>
        </p:nvSpPr>
        <p:spPr>
          <a:xfrm>
            <a:off x="1572120" y="4326120"/>
            <a:ext cx="17402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300" spc="-1" strike="noStrike">
                <a:solidFill>
                  <a:srgbClr val="313543"/>
                </a:solidFill>
                <a:latin typeface="Calibri"/>
                <a:ea typeface="Calibri"/>
              </a:rPr>
              <a:t>Condiciones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523;p14"/>
          <p:cNvSpPr/>
          <p:nvPr/>
        </p:nvSpPr>
        <p:spPr>
          <a:xfrm>
            <a:off x="6513480" y="4392720"/>
            <a:ext cx="240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2400" spc="-1" strike="noStrike">
                <a:solidFill>
                  <a:srgbClr val="313543"/>
                </a:solidFill>
                <a:latin typeface="Calibri"/>
                <a:ea typeface="Calibri"/>
              </a:rPr>
              <a:t>Acciones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4" name="Google Shape;524;p14"/>
          <p:cNvGraphicFramePr/>
          <p:nvPr/>
        </p:nvGraphicFramePr>
        <p:xfrm>
          <a:off x="6370200" y="4848120"/>
          <a:ext cx="3065400" cy="1464480"/>
        </p:xfrm>
        <a:graphic>
          <a:graphicData uri="http://schemas.openxmlformats.org/drawingml/2006/table">
            <a:tbl>
              <a:tblPr/>
              <a:tblGrid>
                <a:gridCol w="3065400"/>
              </a:tblGrid>
              <a:tr h="33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Plus de productividad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Plus de encargado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000000"/>
                          </a:solidFill>
                          <a:latin typeface="Calibri"/>
                          <a:ea typeface="Arial"/>
                        </a:rPr>
                        <a:t>Elimina cualquier plus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ES" sz="18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Descuento 10%</a:t>
                      </a:r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2808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2640" y="3312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3600" spc="-1" strike="noStrike">
                <a:solidFill>
                  <a:srgbClr val="3f3f3f"/>
                </a:solidFill>
                <a:latin typeface="Calibri"/>
                <a:ea typeface="Calibri"/>
              </a:rPr>
              <a:t>Tablas de Decisión </a:t>
            </a:r>
            <a:br>
              <a:rPr sz="4000"/>
            </a:b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sldNum" idx="25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667F76-9479-4B4B-AB2D-82D605498C60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Google Shape;532;p15"/>
          <p:cNvSpPr/>
          <p:nvPr/>
        </p:nvSpPr>
        <p:spPr>
          <a:xfrm>
            <a:off x="280440" y="1144080"/>
            <a:ext cx="10667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3200" spc="-1" strike="noStrike">
                <a:solidFill>
                  <a:srgbClr val="3f3f3f"/>
                </a:solidFill>
                <a:latin typeface="Calibri"/>
                <a:ea typeface="Arial"/>
              </a:rPr>
              <a:t>2. Completar la tabla 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535;p15"/>
          <p:cNvSpPr/>
          <p:nvPr/>
        </p:nvSpPr>
        <p:spPr>
          <a:xfrm rot="15000">
            <a:off x="5036040" y="154440"/>
            <a:ext cx="6972120" cy="1796040"/>
          </a:xfrm>
          <a:prstGeom prst="rect">
            <a:avLst/>
          </a:prstGeom>
          <a:solidFill>
            <a:srgbClr val="b9cd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chemeClr val="dk1"/>
                </a:solidFill>
                <a:latin typeface="Calibri"/>
                <a:ea typeface="Calibri"/>
              </a:rPr>
              <a:t>Se quiere determinar el incremento en el salario de los empleados de acuerdo con estos criterios: 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dk1"/>
                </a:solidFill>
                <a:latin typeface="Calibri"/>
                <a:ea typeface="Calibri"/>
              </a:rPr>
              <a:t>Si el empleado es altamente productivo tendrá un plus de productividad. 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dk1"/>
                </a:solidFill>
                <a:latin typeface="Calibri"/>
                <a:ea typeface="Calibri"/>
              </a:rPr>
              <a:t>Si el empleado es encargado de su grupo tendrá un plus de encargado. 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400" spc="-1" strike="noStrike">
                <a:solidFill>
                  <a:schemeClr val="dk1"/>
                </a:solidFill>
                <a:latin typeface="Calibri"/>
                <a:ea typeface="Calibri"/>
              </a:rPr>
              <a:t>Si el empleado ha cometido una infracción grave durante ese mes le será eliminado cualquier plus que pudiera tener y se le descontará un 10% de su salario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9" name="Grupo 1"/>
          <p:cNvGrpSpPr/>
          <p:nvPr/>
        </p:nvGrpSpPr>
        <p:grpSpPr>
          <a:xfrm>
            <a:off x="1879920" y="2044800"/>
            <a:ext cx="8451720" cy="3877560"/>
            <a:chOff x="1879920" y="2044800"/>
            <a:chExt cx="8451720" cy="3877560"/>
          </a:xfrm>
        </p:grpSpPr>
        <p:graphicFrame>
          <p:nvGraphicFramePr>
            <p:cNvPr id="390" name="Google Shape;533;p15"/>
            <p:cNvGraphicFramePr/>
            <p:nvPr/>
          </p:nvGraphicFramePr>
          <p:xfrm>
            <a:off x="1879920" y="2044800"/>
            <a:ext cx="8127720" cy="3877920"/>
          </p:xfrm>
          <a:graphic>
            <a:graphicData uri="http://schemas.openxmlformats.org/drawingml/2006/table">
              <a:tbl>
                <a:tblPr/>
                <a:tblGrid>
                  <a:gridCol w="4092480"/>
                  <a:gridCol w="523800"/>
                  <a:gridCol w="533160"/>
                  <a:gridCol w="552240"/>
                  <a:gridCol w="475920"/>
                  <a:gridCol w="504720"/>
                  <a:gridCol w="485640"/>
                  <a:gridCol w="475920"/>
                  <a:gridCol w="482400"/>
                </a:tblGrid>
                <a:tr h="370800">
                  <a:tc>
                    <a:txBody>
                      <a:bodyPr anchor="t">
                        <a:noAutofit/>
                      </a:bodyPr>
                      <a:p>
                        <a:endParaRPr b="1" lang="es-A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 gridSpan="8">
                    <a:txBody>
                      <a:bodyPr anchor="t">
                        <a:noAutofit/>
                      </a:bodyPr>
                      <a:p>
                        <a:pPr algn="ctr"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1" lang="es-ES" sz="18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 </a:t>
                        </a:r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 hMerge="1">
                    <a:txBody>
                      <a:bodyPr lIns="90000" rIns="90000" tIns="45000" bIns="45000" anchor="t">
                        <a:noAutofit/>
                      </a:bodyPr>
                      <a:p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0000" marR="90000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>
                        <a:noFill/>
                      </a:lnB>
                      <a:solidFill>
                        <a:srgbClr val="729fcf"/>
                      </a:solidFill>
                    </a:tcPr>
                  </a:tc>
                  <a:tc hMerge="1">
                    <a:txBody>
                      <a:bodyPr lIns="90000" rIns="90000" tIns="45000" bIns="45000" anchor="t">
                        <a:noAutofit/>
                      </a:bodyPr>
                      <a:p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0000" marR="90000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>
                        <a:noFill/>
                      </a:lnB>
                      <a:solidFill>
                        <a:srgbClr val="729fcf"/>
                      </a:solidFill>
                    </a:tcPr>
                  </a:tc>
                  <a:tc hMerge="1">
                    <a:txBody>
                      <a:bodyPr lIns="90000" rIns="90000" tIns="45000" bIns="45000" anchor="t">
                        <a:noAutofit/>
                      </a:bodyPr>
                      <a:p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0000" marR="90000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>
                        <a:noFill/>
                      </a:lnB>
                      <a:solidFill>
                        <a:srgbClr val="729fcf"/>
                      </a:solidFill>
                    </a:tcPr>
                  </a:tc>
                  <a:tc hMerge="1">
                    <a:txBody>
                      <a:bodyPr lIns="90000" rIns="90000" tIns="45000" bIns="45000" anchor="t">
                        <a:noAutofit/>
                      </a:bodyPr>
                      <a:p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0000" marR="90000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>
                        <a:noFill/>
                      </a:lnB>
                      <a:solidFill>
                        <a:srgbClr val="729fcf"/>
                      </a:solidFill>
                    </a:tcPr>
                  </a:tc>
                  <a:tc hMerge="1">
                    <a:txBody>
                      <a:bodyPr lIns="90000" rIns="90000" tIns="45000" bIns="45000" anchor="t">
                        <a:noAutofit/>
                      </a:bodyPr>
                      <a:p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0000" marR="90000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>
                        <a:noFill/>
                      </a:lnB>
                      <a:solidFill>
                        <a:srgbClr val="729fcf"/>
                      </a:solidFill>
                    </a:tcPr>
                  </a:tc>
                  <a:tc hMerge="1">
                    <a:txBody>
                      <a:bodyPr lIns="90000" rIns="90000" tIns="45000" bIns="45000" anchor="t">
                        <a:noAutofit/>
                      </a:bodyPr>
                      <a:p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0000" marR="90000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>
                        <a:noFill/>
                      </a:lnB>
                      <a:solidFill>
                        <a:srgbClr val="729fcf"/>
                      </a:solidFill>
                    </a:tcPr>
                  </a:tc>
                  <a:tc hMerge="1">
                    <a:txBody>
                      <a:bodyPr lIns="90000" rIns="90000" tIns="45000" bIns="45000" anchor="t">
                        <a:noAutofit/>
                      </a:bodyPr>
                      <a:p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0000" marR="90000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>
                        <a:noFill/>
                      </a:lnB>
                      <a:solidFill>
                        <a:srgbClr val="729fcf"/>
                      </a:solidFill>
                    </a:tcPr>
                  </a:tc>
                </a:tr>
                <a:tr h="37080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6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Empleado altamente productivo</a:t>
                        </a:r>
                        <a:endParaRPr b="0" lang="es-AR" sz="16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  <a:tr h="37080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6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Empleado encargado de su grupo </a:t>
                        </a:r>
                        <a:endParaRPr b="0" lang="es-AR" sz="16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  <a:tr h="37080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6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empleado ha cometido una infracción grave </a:t>
                        </a:r>
                        <a:endParaRPr b="0" lang="es-AR" sz="16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V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F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  <a:tr h="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1" lang="es-ES" sz="18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 </a:t>
                        </a:r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  <a:tr h="37080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8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Plus de productividad</a:t>
                        </a:r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  <a:tr h="37080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8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Plus de encargado</a:t>
                        </a:r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  <a:tr h="37080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8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Elimina cualquier plus</a:t>
                        </a:r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  <a:tr h="228600"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80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Descuento 10%</a:t>
                        </a:r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es-AR" sz="3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800" spc="-1" strike="noStrike">
                            <a:solidFill>
                              <a:srgbClr val="000000"/>
                            </a:solidFill>
                            <a:latin typeface="Calibri Light"/>
                            <a:ea typeface="Calibri"/>
                          </a:rPr>
                          <a:t>No se incrementa el salario</a:t>
                        </a:r>
                        <a:endParaRPr b="0" lang="es-AR" sz="180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endParaRPr b="0" lang="es-AR" sz="135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  <a:tc>
                    <a:txBody>
                      <a:bodyPr anchor="t">
                        <a:no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</a:tabLst>
                        </a:pPr>
                        <a:r>
                          <a:rPr b="0" lang="es-ES" sz="1350" spc="-1" strike="noStrike">
                            <a:solidFill>
                              <a:schemeClr val="dk1"/>
                            </a:solidFill>
                            <a:latin typeface="Arial"/>
                            <a:ea typeface="Arial"/>
                          </a:rPr>
                          <a:t>X</a:t>
                        </a:r>
                        <a:endParaRPr b="0" lang="es-AR" sz="1350" spc="-1" strike="noStrike">
                          <a:solidFill>
                            <a:srgbClr val="000000"/>
                          </a:solidFill>
                          <a:latin typeface="Arial"/>
                        </a:endParaRPr>
                      </a:p>
                    </a:txBody>
                    <a:tcPr anchor="t" marL="91440" marR="91440">
                      <a:lnL w="12240">
                        <a:solidFill>
                          <a:srgbClr val="000000"/>
                        </a:solidFill>
                        <a:prstDash val="solid"/>
                      </a:lnL>
                      <a:lnR w="12240">
                        <a:solidFill>
                          <a:srgbClr val="000000"/>
                        </a:solidFill>
                        <a:prstDash val="solid"/>
                      </a:lnR>
                      <a:lnT w="12240">
                        <a:solidFill>
                          <a:srgbClr val="000000"/>
                        </a:solidFill>
                        <a:prstDash val="solid"/>
                      </a:lnT>
                      <a:lnB w="12240">
                        <a:solidFill>
                          <a:srgbClr val="000000"/>
                        </a:solidFill>
                        <a:prstDash val="solid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391" name="Google Shape;536;p15"/>
            <p:cNvSpPr/>
            <p:nvPr/>
          </p:nvSpPr>
          <p:spPr>
            <a:xfrm>
              <a:off x="10008000" y="2891160"/>
              <a:ext cx="323640" cy="97812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2700">
              <a:solidFill>
                <a:srgbClr val="9483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AR" sz="18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cxnSp>
        <p:nvCxnSpPr>
          <p:cNvPr id="392" name="Conector recto 3"/>
          <p:cNvCxnSpPr/>
          <p:nvPr/>
        </p:nvCxnSpPr>
        <p:spPr>
          <a:xfrm>
            <a:off x="1866240" y="5373360"/>
            <a:ext cx="8129880" cy="360"/>
          </a:xfrm>
          <a:prstGeom prst="straightConnector1">
            <a:avLst/>
          </a:prstGeom>
          <a:ln w="28575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786240" y="-23472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85000"/>
              </a:lnSpc>
              <a:buNone/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Ejercicio para realizar en grupos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ldNum" idx="26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DF364E-4DF1-4666-9A64-04066FBEE403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CuadroTexto 4"/>
          <p:cNvSpPr/>
          <p:nvPr/>
        </p:nvSpPr>
        <p:spPr>
          <a:xfrm>
            <a:off x="491040" y="2187720"/>
            <a:ext cx="10648440" cy="34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15 minutos: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Organizarse en grupos de 5 personas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Definir Condiciones y acciones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Construir la tabla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Revisar si se requiere reducción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5 minutos: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Compartir la solución con el grupo de al lado para corregirla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Llegar a acuerdos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Revisar con el profesor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786240" y="-23472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85000"/>
              </a:lnSpc>
              <a:buNone/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Ejercicio para realizar en grupos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10B95D-45DB-4490-A9CF-4F6630075C1A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CuadroTexto 4"/>
          <p:cNvSpPr/>
          <p:nvPr/>
        </p:nvSpPr>
        <p:spPr>
          <a:xfrm>
            <a:off x="563400" y="1748520"/>
            <a:ext cx="1083096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Una aerolínea tiene proyectada la siguiente promoción:</a:t>
            </a:r>
            <a:br>
              <a:rPr sz="2000"/>
            </a:b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a) La aerolínea viaja a Europa o América. Los pasajeros frecuentes acceden a un descuento de un 17% en el valor de su pasaje.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000"/>
            </a:b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b) Además, los que van a Europa, sean o no frecuentes, reciben un descuento adicional.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000"/>
            </a:b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c) Los pasajeros que pagaron en efectivo y son de tipo frecuente, tienen derecho a la compra de un pasaje al mismo destino por un 50% de su valor.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000"/>
            </a:b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d) Los pasajeros que pagaron en efectivo, y no son del tipo frecuente, se les concede una cantidad de kilómetros gratuitos en su siguiente viaje.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000"/>
            </a:br>
            <a:r>
              <a:rPr b="0" lang="es-ES" sz="2000" spc="-1" strike="noStrike">
                <a:solidFill>
                  <a:srgbClr val="000000"/>
                </a:solidFill>
                <a:latin typeface="Calibri"/>
                <a:ea typeface="Arial"/>
              </a:rPr>
              <a:t>e) Los que son o no son frecuentes y viajan a Europa, tienen derecho a una noche gratuita en un hotel de la ciudad destino. El mismo derecho lo tienen aquellos que van países de América y son frecuentes.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Recordar 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ldNum" idx="28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8C2BBC-A27E-4A0C-9D9B-59B89BE3CA2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Google Shape;544;p16"/>
          <p:cNvSpPr/>
          <p:nvPr/>
        </p:nvSpPr>
        <p:spPr>
          <a:xfrm>
            <a:off x="1228320" y="2246400"/>
            <a:ext cx="10152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Para construir tablas de decisión, el analista necesita determinar el tamaño máximo de la tabla; eliminar cualquier situación imposible, inconsistencia o redundancia, y simplificar la tabla lo más que pueda.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Es esencial que verifique la integridad y precisión de sus tablas de decisión. Pueden ocurrir cuatro problemas principales al desarrollar tablas de decisión: que estén incompletas, que existan situaciones imposibles, contradicciones y redundancia.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419760" y="1704600"/>
            <a:ext cx="3430800" cy="2285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3590" spc="-1" strike="noStrike">
                <a:solidFill>
                  <a:srgbClr val="ffffff"/>
                </a:solidFill>
                <a:latin typeface="Calibri"/>
                <a:ea typeface="Calibri"/>
              </a:rPr>
              <a:t>Técnicas de Especificación de Requerimientos</a:t>
            </a:r>
            <a:endParaRPr b="0" lang="es-AR" sz="3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4800600" y="731520"/>
            <a:ext cx="6491880" cy="891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0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 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2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chemeClr val="dk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1178D3-1A25-44B9-B8BE-4137F215DC00}" type="slidenum">
              <a:rPr b="0" lang="es-ES" sz="1050" spc="-1" strike="noStrike">
                <a:solidFill>
                  <a:schemeClr val="dk2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5" name="Imagen 3" descr="Imagen que contiene Interfaz de usuario gráfica&#10;&#10;Descripción generada automáticamente"/>
          <p:cNvPicPr/>
          <p:nvPr/>
        </p:nvPicPr>
        <p:blipFill>
          <a:blip r:embed="rId1"/>
          <a:stretch/>
        </p:blipFill>
        <p:spPr>
          <a:xfrm>
            <a:off x="5577840" y="1446120"/>
            <a:ext cx="5190480" cy="519048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779;p3" descr="Imagen relacionada"/>
          <p:cNvPicPr/>
          <p:nvPr/>
        </p:nvPicPr>
        <p:blipFill>
          <a:blip r:embed="rId1"/>
          <a:stretch/>
        </p:blipFill>
        <p:spPr>
          <a:xfrm>
            <a:off x="9640800" y="3900960"/>
            <a:ext cx="2142720" cy="2142720"/>
          </a:xfrm>
          <a:prstGeom prst="rect">
            <a:avLst/>
          </a:prstGeom>
          <a:ln w="0">
            <a:noFill/>
          </a:ln>
        </p:spPr>
      </p:pic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623520" y="64332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30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02F818-B1A6-4945-9DBC-ECE7AC15A948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/>
          </p:nvPr>
        </p:nvSpPr>
        <p:spPr>
          <a:xfrm>
            <a:off x="6726600" y="6437520"/>
            <a:ext cx="2162160" cy="304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820" spc="-1" strike="noStrike">
                <a:solidFill>
                  <a:srgbClr val="c00000"/>
                </a:solidFill>
                <a:latin typeface="Calibri"/>
                <a:ea typeface="Calibri"/>
              </a:rPr>
              <a:t>Pressman 4ta edición Cap. 12</a:t>
            </a:r>
            <a:endParaRPr b="0" lang="es-AR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/>
          </p:nvPr>
        </p:nvSpPr>
        <p:spPr>
          <a:xfrm>
            <a:off x="919440" y="2126160"/>
            <a:ext cx="8510760" cy="411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Font typeface="Wingdings" charset="2"/>
              <a:buChar char=""/>
            </a:pPr>
            <a:r>
              <a:rPr b="0" lang="es-ES" sz="3200" spc="-1" strike="noStrike">
                <a:solidFill>
                  <a:srgbClr val="3f3f3f"/>
                </a:solidFill>
                <a:latin typeface="Calibri"/>
                <a:ea typeface="Calibri"/>
              </a:rPr>
              <a:t>Para entender los requerimientos, se debe poder reconocer además cómo se mueven los datos, los procesos o transformaciones que sufren dichos datos y sus resultados. 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Font typeface="Wingdings" charset="2"/>
              <a:buChar char=""/>
            </a:pPr>
            <a:r>
              <a:rPr b="0" lang="es-ES" sz="3200" spc="-1" strike="noStrike">
                <a:solidFill>
                  <a:srgbClr val="3f3f3f"/>
                </a:solidFill>
                <a:latin typeface="Calibri"/>
                <a:ea typeface="Calibri"/>
              </a:rPr>
              <a:t>La elicitación proporciona una descripción verbal del sistema, una descripción visual puede consolidar la información.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buNone/>
              <a:tabLst>
                <a:tab algn="l" pos="0"/>
              </a:tabLst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37A98C1-88CF-43B2-9A60-3B0A08DDE7EB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19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709560" y="28908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br>
              <a:rPr sz="4400"/>
            </a:b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Num" idx="31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D69959-815B-4480-88E8-FBD3980934D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/>
          </p:nvPr>
        </p:nvSpPr>
        <p:spPr>
          <a:xfrm>
            <a:off x="7086960" y="6489720"/>
            <a:ext cx="21621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s-AR" sz="820" spc="-1" strike="noStrike">
              <a:solidFill>
                <a:srgbClr val="c00000"/>
              </a:solidFill>
              <a:latin typeface="Calibri"/>
              <a:ea typeface="Calibri"/>
            </a:endParaRPr>
          </a:p>
        </p:txBody>
      </p:sp>
      <p:sp>
        <p:nvSpPr>
          <p:cNvPr id="415" name="Google Shape;801;p4"/>
          <p:cNvSpPr/>
          <p:nvPr/>
        </p:nvSpPr>
        <p:spPr>
          <a:xfrm>
            <a:off x="665280" y="2213280"/>
            <a:ext cx="10675440" cy="39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Font typeface="Wingdings" charset="2"/>
              <a:buChar char=""/>
            </a:pPr>
            <a:r>
              <a:rPr b="0" lang="es-ES" sz="3200" spc="-1" strike="noStrike">
                <a:solidFill>
                  <a:srgbClr val="3f3f3f"/>
                </a:solidFill>
                <a:latin typeface="Calibri"/>
                <a:ea typeface="Calibri"/>
              </a:rPr>
              <a:t>La técnica de análisis estructurado permite lograr una representación gráfica que permite lograr una comprensión más profunda del sistema a construir y comunicar a los usuarios lo  comprendido.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Font typeface="Wingdings" charset="2"/>
              <a:buChar char=""/>
            </a:pPr>
            <a:r>
              <a:rPr b="0" lang="es-ES" sz="3200" spc="-1" strike="noStrike">
                <a:solidFill>
                  <a:srgbClr val="3f3f3f"/>
                </a:solidFill>
                <a:latin typeface="Calibri"/>
                <a:ea typeface="Calibri"/>
              </a:rPr>
              <a:t>La notación no especifica aspectos físicos de implementación.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Font typeface="Wingdings" charset="2"/>
              <a:buChar char=""/>
            </a:pPr>
            <a:r>
              <a:rPr b="0" lang="es-ES" sz="3200" spc="-1" strike="noStrike">
                <a:solidFill>
                  <a:srgbClr val="3f3f3f"/>
                </a:solidFill>
                <a:latin typeface="Calibri"/>
                <a:ea typeface="Calibri"/>
              </a:rPr>
              <a:t>Hace énfasis en el procesamiento o la transformación de datos conforme estos pasan por distintos procesos.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85000"/>
              </a:lnSpc>
            </a:pPr>
            <a:endParaRPr b="0" lang="es-A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839F0E27-15F6-4A6C-9D96-5BB93235610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 – Modelado funcional y flujo de la información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965160" y="1737360"/>
            <a:ext cx="10389600" cy="468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</a:pPr>
            <a:r>
              <a:rPr b="1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Diagrama de Flujo de Datos (DFD)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 algn="just">
              <a:lnSpc>
                <a:spcPct val="85000"/>
              </a:lnSpc>
              <a:spcBef>
                <a:spcPts val="451"/>
              </a:spcBef>
              <a:buClr>
                <a:srgbClr val="8ab833"/>
              </a:buClr>
              <a:buFont typeface="Wingdings" charset="2"/>
              <a:buChar char=""/>
            </a:pPr>
            <a:r>
              <a:rPr b="0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Es una herramienta que permite visualizar un sistema como una red de procesos funcionales, conectados entre sí por “conductos” y almacenamientos de datos.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 algn="just">
              <a:lnSpc>
                <a:spcPct val="85000"/>
              </a:lnSpc>
              <a:spcBef>
                <a:spcPts val="451"/>
              </a:spcBef>
              <a:buClr>
                <a:srgbClr val="8ab833"/>
              </a:buClr>
              <a:buFont typeface="Wingdings" charset="2"/>
              <a:buChar char=""/>
            </a:pPr>
            <a:r>
              <a:rPr b="0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Representa la transformación de entradas a salidas y es también llamado diagrama de burbujas.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457200" indent="-457200" algn="just">
              <a:lnSpc>
                <a:spcPct val="85000"/>
              </a:lnSpc>
              <a:spcBef>
                <a:spcPts val="451"/>
              </a:spcBef>
              <a:buClr>
                <a:srgbClr val="8ab833"/>
              </a:buClr>
              <a:buFont typeface="Wingdings" charset="2"/>
              <a:buChar char=""/>
            </a:pPr>
            <a:r>
              <a:rPr b="0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Es una herramienta comúnmente utilizada por sistemas operacionales en los cuales las funciones del sistema son de gran importancia y son más complejas que los datos que éste maneja.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32"/>
          </p:nvPr>
        </p:nvSpPr>
        <p:spPr>
          <a:xfrm>
            <a:off x="11375640" y="5649120"/>
            <a:ext cx="731160" cy="3960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5BAC95-5866-4561-B426-ED438580B344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AC09C4D-5134-417D-8EFA-CBBE9A15307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23520" y="64332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 – Modelado Funcional y Flujo de la información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sldNum" idx="33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B37C90-C920-4171-88CA-D7511F53AF85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6847920" y="6481800"/>
            <a:ext cx="2162160" cy="304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s-AR" sz="820" spc="-1" strike="noStrike">
              <a:solidFill>
                <a:srgbClr val="c00000"/>
              </a:solidFill>
              <a:latin typeface="Calibri"/>
              <a:ea typeface="Calibri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/>
          </p:nvPr>
        </p:nvSpPr>
        <p:spPr>
          <a:xfrm>
            <a:off x="867600" y="1974600"/>
            <a:ext cx="6981480" cy="4239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 algn="just">
              <a:lnSpc>
                <a:spcPct val="85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Se utiliza un rectángulo para representar una </a:t>
            </a:r>
            <a:r>
              <a:rPr b="1" i="1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entidad externa</a:t>
            </a:r>
            <a:r>
              <a:rPr b="0" i="1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, </a:t>
            </a: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esto es, un elemento del sistema (por ejemplo, un elemento hardware, una persona, otro programa) u otro sistema que produce información para ser transformada por el software, o recibe información producida por el software.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Un círculo (también llamado burbuja)  representa un</a:t>
            </a:r>
            <a:r>
              <a:rPr b="1" i="1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 proceso </a:t>
            </a: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o </a:t>
            </a:r>
            <a:r>
              <a:rPr b="0" i="1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transformación </a:t>
            </a: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que es aplicado a los datos (o al control) y los modifica.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Una flecha representa un </a:t>
            </a:r>
            <a:r>
              <a:rPr b="1" i="1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flujo</a:t>
            </a: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 para uno o más </a:t>
            </a:r>
            <a:r>
              <a:rPr b="1" i="1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elementos de datos </a:t>
            </a: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(objetos de dato).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Un rectángulo abierto (lado izquierdo y derecho) que representa un </a:t>
            </a:r>
            <a:r>
              <a:rPr b="1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almacén de datos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ectángulo 1"/>
          <p:cNvSpPr/>
          <p:nvPr/>
        </p:nvSpPr>
        <p:spPr>
          <a:xfrm>
            <a:off x="8232120" y="2030040"/>
            <a:ext cx="1555560" cy="571320"/>
          </a:xfrm>
          <a:prstGeom prst="rect">
            <a:avLst/>
          </a:prstGeom>
          <a:noFill/>
          <a:ln>
            <a:solidFill>
              <a:srgbClr val="e3ded1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  <a:ea typeface="Arial"/>
              </a:rPr>
              <a:t>Cliente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Elipse 3"/>
          <p:cNvSpPr/>
          <p:nvPr/>
        </p:nvSpPr>
        <p:spPr>
          <a:xfrm>
            <a:off x="8232120" y="3154680"/>
            <a:ext cx="1555560" cy="787680"/>
          </a:xfrm>
          <a:prstGeom prst="ellipse">
            <a:avLst/>
          </a:prstGeom>
          <a:noFill/>
          <a:ln>
            <a:solidFill>
              <a:srgbClr val="3e742a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  <a:ea typeface="Arial"/>
              </a:rPr>
              <a:t>Ingresar nuevo cliente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7" name="Conector recto de flecha 5"/>
          <p:cNvCxnSpPr/>
          <p:nvPr/>
        </p:nvCxnSpPr>
        <p:spPr>
          <a:xfrm>
            <a:off x="8111160" y="4546800"/>
            <a:ext cx="2166840" cy="360"/>
          </a:xfrm>
          <a:prstGeom prst="straightConnector1">
            <a:avLst/>
          </a:prstGeom>
          <a:ln w="28575">
            <a:solidFill>
              <a:srgbClr val="519c35"/>
            </a:solidFill>
            <a:round/>
            <a:tailEnd len="med" type="triangle" w="med"/>
          </a:ln>
        </p:spPr>
      </p:cxnSp>
      <p:cxnSp>
        <p:nvCxnSpPr>
          <p:cNvPr id="428" name="Conector recto 7"/>
          <p:cNvCxnSpPr/>
          <p:nvPr/>
        </p:nvCxnSpPr>
        <p:spPr>
          <a:xfrm>
            <a:off x="8125200" y="5180040"/>
            <a:ext cx="2045880" cy="360"/>
          </a:xfrm>
          <a:prstGeom prst="straightConnector1">
            <a:avLst/>
          </a:prstGeom>
          <a:ln w="12700">
            <a:solidFill>
              <a:srgbClr val="519c35"/>
            </a:solidFill>
            <a:round/>
          </a:ln>
        </p:spPr>
      </p:cxnSp>
      <p:cxnSp>
        <p:nvCxnSpPr>
          <p:cNvPr id="429" name="Conector recto 8"/>
          <p:cNvCxnSpPr/>
          <p:nvPr/>
        </p:nvCxnSpPr>
        <p:spPr>
          <a:xfrm>
            <a:off x="8125200" y="5531760"/>
            <a:ext cx="2045880" cy="360"/>
          </a:xfrm>
          <a:prstGeom prst="straightConnector1">
            <a:avLst/>
          </a:prstGeom>
          <a:ln w="19050">
            <a:solidFill>
              <a:srgbClr val="519c35"/>
            </a:solidFill>
            <a:round/>
          </a:ln>
        </p:spPr>
      </p:cxnSp>
      <p:sp>
        <p:nvSpPr>
          <p:cNvPr id="430" name="CuadroTexto 9"/>
          <p:cNvSpPr/>
          <p:nvPr/>
        </p:nvSpPr>
        <p:spPr>
          <a:xfrm>
            <a:off x="8596800" y="5181480"/>
            <a:ext cx="825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Arial"/>
              </a:rPr>
              <a:t>Clientes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CuadroTexto 10"/>
          <p:cNvSpPr/>
          <p:nvPr/>
        </p:nvSpPr>
        <p:spPr>
          <a:xfrm>
            <a:off x="8236800" y="4294800"/>
            <a:ext cx="1818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Arial"/>
              </a:rPr>
              <a:t>Datos Nuevo Cliente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4EF9603-F16D-451B-ABD8-F395B8B98D74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22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6120" cy="1272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 – Diccionario de Datos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479520" y="2205000"/>
            <a:ext cx="655236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60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Listado organizado de todos los datos pertinentes al sistema. Es una definición sin ambigüedad de los datos y elementos del sistema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36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Características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Permite revisar consistencia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Representa el contenido de la información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Define el significado de los flujos y los almacenes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Noto Sans Symbols"/>
              <a:buChar char="⮚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Un Dato debe contener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Tipo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Nombre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Descripción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34"/>
          </p:nvPr>
        </p:nvSpPr>
        <p:spPr>
          <a:xfrm>
            <a:off x="11375640" y="5649120"/>
            <a:ext cx="731160" cy="3960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DC3588-E702-40D3-8AAD-4478661EAD80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6" name="Google Shape;848;p8" descr="Resultado de imagen para diccionario de datos"/>
          <p:cNvPicPr/>
          <p:nvPr/>
        </p:nvPicPr>
        <p:blipFill>
          <a:blip r:embed="rId1"/>
          <a:srcRect l="10658" t="30167" r="10658" b="8570"/>
          <a:stretch/>
        </p:blipFill>
        <p:spPr>
          <a:xfrm>
            <a:off x="7176240" y="1845000"/>
            <a:ext cx="4116600" cy="4148640"/>
          </a:xfrm>
          <a:prstGeom prst="rect">
            <a:avLst/>
          </a:prstGeom>
          <a:ln w="0">
            <a:noFill/>
          </a:ln>
        </p:spPr>
      </p:pic>
      <p:pic>
        <p:nvPicPr>
          <p:cNvPr id="437" name="Google Shape;849;p8" descr=""/>
          <p:cNvPicPr/>
          <p:nvPr/>
        </p:nvPicPr>
        <p:blipFill>
          <a:blip r:embed="rId2"/>
          <a:stretch/>
        </p:blipFill>
        <p:spPr>
          <a:xfrm>
            <a:off x="5015880" y="4329360"/>
            <a:ext cx="2299320" cy="1907640"/>
          </a:xfrm>
          <a:prstGeom prst="rect">
            <a:avLst/>
          </a:prstGeom>
          <a:ln w="0">
            <a:noFill/>
          </a:ln>
        </p:spPr>
      </p:pic>
      <p:sp>
        <p:nvSpPr>
          <p:cNvPr id="438" name="Google Shape;850;p8"/>
          <p:cNvSpPr/>
          <p:nvPr/>
        </p:nvSpPr>
        <p:spPr>
          <a:xfrm>
            <a:off x="4115880" y="5127120"/>
            <a:ext cx="1800000" cy="287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39" name="Google Shape;851;p8"/>
          <p:cNvSpPr/>
          <p:nvPr/>
        </p:nvSpPr>
        <p:spPr>
          <a:xfrm>
            <a:off x="8950680" y="4295880"/>
            <a:ext cx="935640" cy="258480"/>
          </a:xfrm>
          <a:prstGeom prst="rect">
            <a:avLst/>
          </a:prstGeom>
          <a:solidFill>
            <a:schemeClr val="lt1"/>
          </a:solidFill>
          <a:ln w="9525">
            <a:solidFill>
              <a:srgbClr val="acbd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100" spc="-1" strike="noStrike">
                <a:solidFill>
                  <a:schemeClr val="dk1"/>
                </a:solidFill>
                <a:latin typeface="Arial"/>
                <a:ea typeface="Arial"/>
              </a:rPr>
              <a:t>Almacén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828;p7" descr=""/>
          <p:cNvPicPr/>
          <p:nvPr/>
        </p:nvPicPr>
        <p:blipFill>
          <a:blip r:embed="rId1"/>
          <a:stretch/>
        </p:blipFill>
        <p:spPr>
          <a:xfrm>
            <a:off x="2495520" y="2601000"/>
            <a:ext cx="6905160" cy="3314520"/>
          </a:xfrm>
          <a:prstGeom prst="rect">
            <a:avLst/>
          </a:prstGeom>
          <a:ln w="0">
            <a:noFill/>
          </a:ln>
        </p:spPr>
      </p:pic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 – Modelado funcional y flujo de la información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ldNum" idx="35"/>
          </p:nvPr>
        </p:nvSpPr>
        <p:spPr>
          <a:xfrm>
            <a:off x="11375640" y="5649120"/>
            <a:ext cx="731160" cy="3960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3636D5-EE35-4A54-8BAE-1F772AB3C353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443" name="Google Shape;832;p7"/>
          <p:cNvCxnSpPr/>
          <p:nvPr/>
        </p:nvCxnSpPr>
        <p:spPr>
          <a:xfrm flipV="1">
            <a:off x="6095880" y="2348640"/>
            <a:ext cx="576360" cy="936360"/>
          </a:xfrm>
          <a:prstGeom prst="straightConnector1">
            <a:avLst/>
          </a:prstGeom>
          <a:ln w="22225">
            <a:solidFill>
              <a:srgbClr val="00b0f0"/>
            </a:solidFill>
            <a:round/>
            <a:tailEnd len="med" type="stealth" w="med"/>
          </a:ln>
        </p:spPr>
      </p:cxnSp>
      <p:sp>
        <p:nvSpPr>
          <p:cNvPr id="444" name="Google Shape;833;p7"/>
          <p:cNvSpPr/>
          <p:nvPr/>
        </p:nvSpPr>
        <p:spPr>
          <a:xfrm>
            <a:off x="6672240" y="2028240"/>
            <a:ext cx="157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  <a:ea typeface="Calibri"/>
              </a:rPr>
              <a:t>Flujos de datos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834;p7"/>
          <p:cNvSpPr/>
          <p:nvPr/>
        </p:nvSpPr>
        <p:spPr>
          <a:xfrm>
            <a:off x="10082160" y="2020320"/>
            <a:ext cx="1368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  <a:ea typeface="Calibri"/>
              </a:rPr>
              <a:t>Proceso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835;p7"/>
          <p:cNvSpPr/>
          <p:nvPr/>
        </p:nvSpPr>
        <p:spPr>
          <a:xfrm>
            <a:off x="830880" y="5949360"/>
            <a:ext cx="131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  <a:ea typeface="Calibri"/>
              </a:rPr>
              <a:t>Almacén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836;p7"/>
          <p:cNvSpPr/>
          <p:nvPr/>
        </p:nvSpPr>
        <p:spPr>
          <a:xfrm>
            <a:off x="500760" y="4612320"/>
            <a:ext cx="1994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  <a:ea typeface="Calibri"/>
              </a:rPr>
              <a:t>Entidad Externa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837;p7"/>
          <p:cNvSpPr/>
          <p:nvPr/>
        </p:nvSpPr>
        <p:spPr>
          <a:xfrm>
            <a:off x="2150280" y="2277000"/>
            <a:ext cx="1568880" cy="1800000"/>
          </a:xfrm>
          <a:prstGeom prst="wedgeEllipseCallout">
            <a:avLst>
              <a:gd name="adj1" fmla="val -79100"/>
              <a:gd name="adj2" fmla="val 76946"/>
            </a:avLst>
          </a:prstGeom>
          <a:noFill/>
          <a:ln w="22225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49" name="Google Shape;838;p7"/>
          <p:cNvSpPr/>
          <p:nvPr/>
        </p:nvSpPr>
        <p:spPr>
          <a:xfrm>
            <a:off x="3087360" y="4271400"/>
            <a:ext cx="1568880" cy="1800000"/>
          </a:xfrm>
          <a:prstGeom prst="wedgeEllipseCallout">
            <a:avLst>
              <a:gd name="adj1" fmla="val -151801"/>
              <a:gd name="adj2" fmla="val 50384"/>
            </a:avLst>
          </a:prstGeom>
          <a:noFill/>
          <a:ln w="222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50" name="Google Shape;839;p7"/>
          <p:cNvSpPr/>
          <p:nvPr/>
        </p:nvSpPr>
        <p:spPr>
          <a:xfrm>
            <a:off x="6960240" y="2493000"/>
            <a:ext cx="1856880" cy="1367640"/>
          </a:xfrm>
          <a:prstGeom prst="wedgeEllipseCallout">
            <a:avLst>
              <a:gd name="adj1" fmla="val 124669"/>
              <a:gd name="adj2" fmla="val -61139"/>
            </a:avLst>
          </a:prstGeom>
          <a:noFill/>
          <a:ln w="34925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51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A7A772C-7A23-4DDD-A59E-9CB50605D9F9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2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932760" y="59832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Desarrollo de DFDs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sldNum" idx="36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C7DE7A-2D59-4F43-A3C1-624678B2252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/>
          </p:nvPr>
        </p:nvSpPr>
        <p:spPr>
          <a:xfrm>
            <a:off x="6636240" y="6543360"/>
            <a:ext cx="21621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s-AR" sz="820" spc="-1" strike="noStrike">
              <a:solidFill>
                <a:srgbClr val="c00000"/>
              </a:solidFill>
              <a:latin typeface="Calibri"/>
              <a:ea typeface="Calibri"/>
            </a:endParaRPr>
          </a:p>
        </p:txBody>
      </p:sp>
      <p:sp>
        <p:nvSpPr>
          <p:cNvPr id="455" name="PlaceHolder 4"/>
          <p:cNvSpPr>
            <a:spLocks noGrp="1"/>
          </p:cNvSpPr>
          <p:nvPr>
            <p:ph/>
          </p:nvPr>
        </p:nvSpPr>
        <p:spPr>
          <a:xfrm>
            <a:off x="1055520" y="1727640"/>
            <a:ext cx="10203480" cy="44784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8000"/>
          </a:bodyPr>
          <a:p>
            <a:pPr marL="89280" indent="0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Se debe visualizar desde una perspectiva jerárquica de arriba hacia abajo.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89280" indent="0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Pasos :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91400" indent="-402120">
              <a:lnSpc>
                <a:spcPct val="90000"/>
              </a:lnSpc>
              <a:spcBef>
                <a:spcPts val="1196"/>
              </a:spcBef>
              <a:buClr>
                <a:srgbClr val="c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Redactar la lista de actividades (eventos) de la organización para determinar: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893880" indent="-402120">
              <a:lnSpc>
                <a:spcPct val="90000"/>
              </a:lnSpc>
              <a:spcBef>
                <a:spcPts val="198"/>
              </a:spcBef>
              <a:buClr>
                <a:srgbClr val="549e39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Entidades externas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893880" indent="-402120">
              <a:lnSpc>
                <a:spcPct val="90000"/>
              </a:lnSpc>
              <a:spcBef>
                <a:spcPts val="198"/>
              </a:spcBef>
              <a:buClr>
                <a:srgbClr val="549e39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Flujos de datos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893880" indent="-402120">
              <a:lnSpc>
                <a:spcPct val="90000"/>
              </a:lnSpc>
              <a:spcBef>
                <a:spcPts val="198"/>
              </a:spcBef>
              <a:buClr>
                <a:srgbClr val="549e39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Procesos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893880" indent="-402120">
              <a:lnSpc>
                <a:spcPct val="90000"/>
              </a:lnSpc>
              <a:spcBef>
                <a:spcPts val="198"/>
              </a:spcBef>
              <a:buClr>
                <a:srgbClr val="549e39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Almacenes de datos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91400" indent="-402120">
              <a:lnSpc>
                <a:spcPct val="90000"/>
              </a:lnSpc>
              <a:spcBef>
                <a:spcPts val="1196"/>
              </a:spcBef>
              <a:buClr>
                <a:srgbClr val="c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Crear un diagrama de contexto que muestre las entidades externas y los flujos de datos desde y hacia el sistema.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91400" indent="-402120">
              <a:lnSpc>
                <a:spcPct val="90000"/>
              </a:lnSpc>
              <a:spcBef>
                <a:spcPts val="1196"/>
              </a:spcBef>
              <a:buClr>
                <a:srgbClr val="c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Dibujar el Diagrama 0 (siguiente nivel), con procesos generales y los almacenes correspondientes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91400" indent="-402120">
              <a:lnSpc>
                <a:spcPct val="90000"/>
              </a:lnSpc>
              <a:spcBef>
                <a:spcPts val="1196"/>
              </a:spcBef>
              <a:buClr>
                <a:srgbClr val="c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Dibujar un diagrama hijo por cada uno de los procesos del Diagrama 0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78B8065-DA56-43D0-90EF-5E8E4F517641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25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23520" y="64332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Diagrama de contexto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ldNum" idx="37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7FD6C7-A6AD-4360-919E-D198BB515BC8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/>
          </p:nvPr>
        </p:nvSpPr>
        <p:spPr>
          <a:xfrm>
            <a:off x="7124040" y="2494440"/>
            <a:ext cx="405108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101520" indent="0" algn="just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Se muestra un panorama global que muestre las entradas básicas y las salidas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 algn="just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Es el nivel más alto en un DFD y contiene un solo proceso que representa a todo el sistema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869;p10"/>
          <p:cNvSpPr/>
          <p:nvPr/>
        </p:nvSpPr>
        <p:spPr>
          <a:xfrm>
            <a:off x="6472800" y="2452320"/>
            <a:ext cx="157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Ambiente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1" name="Imagen 4" descr=""/>
          <p:cNvPicPr/>
          <p:nvPr/>
        </p:nvPicPr>
        <p:blipFill>
          <a:blip r:embed="rId1"/>
          <a:stretch/>
        </p:blipFill>
        <p:spPr>
          <a:xfrm>
            <a:off x="1016640" y="2091240"/>
            <a:ext cx="5495400" cy="3238200"/>
          </a:xfrm>
          <a:prstGeom prst="rect">
            <a:avLst/>
          </a:prstGeom>
          <a:ln w="0">
            <a:noFill/>
          </a:ln>
        </p:spPr>
      </p:pic>
      <p:sp>
        <p:nvSpPr>
          <p:cNvPr id="462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20B3A6C-A160-4A76-9DF4-62A2A66D3FE8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709560" y="25740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>
              <a:lnSpc>
                <a:spcPct val="85000"/>
              </a:lnSpc>
              <a:buNone/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Nivel 0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 type="sldNum" idx="38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E8E0EA-FEFE-483B-8A33-F34798347A6D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/>
          </p:nvPr>
        </p:nvSpPr>
        <p:spPr>
          <a:xfrm>
            <a:off x="6636240" y="6543360"/>
            <a:ext cx="2162160" cy="30492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s-AR" sz="820" spc="-1" strike="noStrike">
              <a:solidFill>
                <a:srgbClr val="c00000"/>
              </a:solidFill>
              <a:latin typeface="Calibri"/>
              <a:ea typeface="Calibri"/>
            </a:endParaRPr>
          </a:p>
        </p:txBody>
      </p:sp>
      <p:sp>
        <p:nvSpPr>
          <p:cNvPr id="466" name="PlaceHolder 4"/>
          <p:cNvSpPr>
            <a:spLocks noGrp="1"/>
          </p:cNvSpPr>
          <p:nvPr>
            <p:ph/>
          </p:nvPr>
        </p:nvSpPr>
        <p:spPr>
          <a:xfrm>
            <a:off x="6850800" y="1935360"/>
            <a:ext cx="4979520" cy="42789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101520" indent="0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Es la ampliación del Diagrama de contexto.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 algn="just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Las entradas y salidas del Diagrama de contexto permanecen, sin embargo, se amplía para incluir hasta 9 procesos (como máximo) y mostrar los almacenes de datos y nuevos flujos.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7" name="Picture 2" descr=""/>
          <p:cNvPicPr/>
          <p:nvPr/>
        </p:nvPicPr>
        <p:blipFill>
          <a:blip r:embed="rId1"/>
          <a:stretch/>
        </p:blipFill>
        <p:spPr>
          <a:xfrm>
            <a:off x="470880" y="2360880"/>
            <a:ext cx="5481000" cy="3603240"/>
          </a:xfrm>
          <a:prstGeom prst="rect">
            <a:avLst/>
          </a:prstGeom>
          <a:ln w="0">
            <a:noFill/>
          </a:ln>
        </p:spPr>
      </p:pic>
      <p:sp>
        <p:nvSpPr>
          <p:cNvPr id="468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C657546-4211-43CA-8D97-ECBE2F601157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623520" y="643320"/>
            <a:ext cx="10772280" cy="112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>
              <a:lnSpc>
                <a:spcPct val="85000"/>
              </a:lnSpc>
              <a:buNone/>
            </a:pPr>
            <a:r>
              <a:rPr b="0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Nivelación de un DFD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sldNum" idx="39"/>
          </p:nvPr>
        </p:nvSpPr>
        <p:spPr>
          <a:xfrm>
            <a:off x="9249480" y="2852640"/>
            <a:ext cx="2925720" cy="1048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288563-41F2-4F71-BFC0-BC2876FFF53D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/>
          </p:nvPr>
        </p:nvSpPr>
        <p:spPr>
          <a:xfrm>
            <a:off x="7724520" y="1902600"/>
            <a:ext cx="3671280" cy="431172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101520" indent="0" algn="just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Cada proceso se puede a su vez ampliar para crear un diagrama hijo más detallado.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101520" indent="0" algn="just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Las entradas y salidas del proceso padre permanecen, sin embargo, pueden aparecer nuevos almacenes de datos y nuevos flujos.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90000"/>
              </a:lnSpc>
              <a:spcBef>
                <a:spcPts val="1196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" name="Picture 2" descr=""/>
          <p:cNvPicPr/>
          <p:nvPr/>
        </p:nvPicPr>
        <p:blipFill>
          <a:blip r:embed="rId1"/>
          <a:stretch/>
        </p:blipFill>
        <p:spPr>
          <a:xfrm>
            <a:off x="944640" y="2138400"/>
            <a:ext cx="5272200" cy="4075920"/>
          </a:xfrm>
          <a:prstGeom prst="rect">
            <a:avLst/>
          </a:prstGeom>
          <a:ln w="0">
            <a:noFill/>
          </a:ln>
        </p:spPr>
      </p:pic>
      <p:sp>
        <p:nvSpPr>
          <p:cNvPr id="473" name="Marcador de número de diapositiva 2"/>
          <p:cNvSpPr/>
          <p:nvPr/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E7ECCDB-FEEB-4D8C-AC7A-B68708A12896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139076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Análisis Estructurado – </a:t>
            </a:r>
            <a:r>
              <a:rPr b="1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Modelo de comportamiento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623520" y="1845000"/>
            <a:ext cx="8229240" cy="463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lvl="2" marL="411480" indent="-411480">
              <a:lnSpc>
                <a:spcPct val="85000"/>
              </a:lnSpc>
              <a:buClr>
                <a:srgbClr val="000000"/>
              </a:buClr>
              <a:buFont typeface="Calibri"/>
              <a:buChar char=" "/>
            </a:pPr>
            <a:r>
              <a:rPr b="1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Nivelación de un DFD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A partir del DFD preliminar se realizan nivelaciones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174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Ascendentes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4" marL="822960" indent="-82296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Agrupa las burbujas con algún criterio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Descendentes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4" marL="822960" indent="-822960">
              <a:lnSpc>
                <a:spcPct val="85000"/>
              </a:lnSpc>
              <a:spcBef>
                <a:spcPts val="451"/>
              </a:spcBef>
              <a:buClr>
                <a:srgbClr val="000000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Descompone las burbujas funcionalmente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40"/>
          </p:nvPr>
        </p:nvSpPr>
        <p:spPr>
          <a:xfrm>
            <a:off x="11375640" y="5649120"/>
            <a:ext cx="731160" cy="3960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0B9C52-EC97-4C65-92CE-22DD35185529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4800" spc="-1" strike="noStrike">
                <a:solidFill>
                  <a:schemeClr val="dk1"/>
                </a:solidFill>
                <a:latin typeface="Calibri"/>
                <a:ea typeface="Calibri"/>
              </a:rPr>
              <a:t>Bibliografía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Libros consultados para Tablas de Decisión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Kendall &amp; Kendall, Capítulo 9, Análisis y Diseño de Sistemas, Pearson Prentice Hall 2011 . 8va edición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41"/>
          </p:nvPr>
        </p:nvSpPr>
        <p:spPr>
          <a:xfrm>
            <a:off x="9900360" y="6459840"/>
            <a:ext cx="13114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071E72-ED81-4893-946D-2601ACA88B4D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Application>LibreOffice/7.5.9.2$Linux_X86_64 LibreOffice_project/50$Build-2</Application>
  <AppVersion>15.0000</AppVersion>
  <Words>1981</Words>
  <Paragraphs>453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description/>
  <dc:language>es-AR</dc:language>
  <cp:lastModifiedBy/>
  <dcterms:modified xsi:type="dcterms:W3CDTF">2025-10-14T18:44:25Z</dcterms:modified>
  <cp:revision>17</cp:revision>
  <dc:subject/>
  <dc:title>Ingeniería de Software 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Panorámica</vt:lpwstr>
  </property>
  <property fmtid="{D5CDD505-2E9C-101B-9397-08002B2CF9AE}" pid="4" name="Slides">
    <vt:i4>30</vt:i4>
  </property>
</Properties>
</file>