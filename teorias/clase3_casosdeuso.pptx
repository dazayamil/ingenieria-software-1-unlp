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notesSlides/_rels/notesSlide2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4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9.xml" ContentType="application/vnd.openxmlformats-officedocument.presentationml.notesSlide+xml"/>
  <Override PartName="/ppt/presProps.xml" ContentType="application/vnd.openxmlformats-officedocument.presentationml.presPro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4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_rels/slideLayout3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7.xml.rels" ContentType="application/vnd.openxmlformats-package.relationships+xml"/>
  <Override PartName="/ppt/slideLayouts/slideLayout2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9.jpeg" ContentType="image/jpeg"/>
  <Override PartName="/ppt/media/image10.jpeg" ContentType="image/jpeg"/>
  <Override PartName="/ppt/media/image11.jpeg" ContentType="image/jpeg"/>
  <Override PartName="/ppt/media/image16.jpeg" ContentType="image/jpeg"/>
  <Override PartName="/ppt/media/image15.jpeg" ContentType="image/jpeg"/>
  <Override PartName="/ppt/media/image2.png" ContentType="image/png"/>
  <Override PartName="/ppt/media/image14.jpeg" ContentType="image/jpeg"/>
  <Override PartName="/ppt/media/image1.jpeg" ContentType="image/jpeg"/>
  <Override PartName="/ppt/media/image3.png" ContentType="image/png"/>
  <Override PartName="/ppt/media/image4.png" ContentType="image/png"/>
  <Override PartName="/ppt/media/image5.png" ContentType="image/png"/>
  <Override PartName="/ppt/media/image13.jpeg" ContentType="image/jpeg"/>
  <Override PartName="/ppt/media/image6.png" ContentType="image/png"/>
  <Override PartName="/ppt/media/image17.png" ContentType="image/png"/>
  <Override PartName="/ppt/media/image12.jpeg" ContentType="image/jpeg"/>
  <Override PartName="/ppt/media/image8.png" ContentType="image/png"/>
  <Override PartName="/ppt/media/image7.jpeg" ContentType="image/jpe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45.xml" ContentType="application/vnd.openxmlformats-officedocument.presentationml.slide+xml"/>
  <Override PartName="/ppt/slides/slide2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36.xml" ContentType="application/vnd.openxmlformats-officedocument.presentationml.slide+xml"/>
  <Override PartName="/ppt/slides/slide26.xml" ContentType="application/vnd.openxmlformats-officedocument.presentationml.slide+xml"/>
  <Override PartName="/ppt/slides/slide43.xml" ContentType="application/vnd.openxmlformats-officedocument.presentationml.slide+xml"/>
  <Override PartName="/ppt/slides/slide18.xml" ContentType="application/vnd.openxmlformats-officedocument.presentationml.slide+xml"/>
  <Override PartName="/ppt/slides/slide35.xml" ContentType="application/vnd.openxmlformats-officedocument.presentationml.slide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40.xml.rels" ContentType="application/vnd.openxmlformats-package.relationships+xml"/>
  <Override PartName="/ppt/slides/_rels/slide15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14.xml.rels" ContentType="application/vnd.openxmlformats-package.relationships+xml"/>
  <Override PartName="/ppt/slides/_rels/slide3.xml.rels" ContentType="application/vnd.openxmlformats-package.relationships+xml"/>
  <Override PartName="/ppt/slides/_rels/slide37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6.xml.rels" ContentType="application/vnd.openxmlformats-package.relationships+xml"/>
  <Override PartName="/ppt/slides/_rels/slide42.xml.rels" ContentType="application/vnd.openxmlformats-package.relationships+xml"/>
  <Override PartName="/ppt/slides/_rels/slide25.xml.rels" ContentType="application/vnd.openxmlformats-package.relationships+xml"/>
  <Override PartName="/ppt/slides/_rels/slide34.xml.rels" ContentType="application/vnd.openxmlformats-package.relationships+xml"/>
  <Override PartName="/ppt/slides/_rels/slide17.xml.rels" ContentType="application/vnd.openxmlformats-package.relationships+xml"/>
  <Override PartName="/ppt/slides/_rels/slide5.xml.rels" ContentType="application/vnd.openxmlformats-package.relationships+xml"/>
  <Override PartName="/ppt/slides/_rels/slide18.xml.rels" ContentType="application/vnd.openxmlformats-package.relationships+xml"/>
  <Override PartName="/ppt/slides/_rels/slide35.xml.rels" ContentType="application/vnd.openxmlformats-package.relationships+xml"/>
  <Override PartName="/ppt/slides/_rels/slide26.xml.rels" ContentType="application/vnd.openxmlformats-package.relationships+xml"/>
  <Override PartName="/ppt/slides/_rels/slide43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44.xml.rels" ContentType="application/vnd.openxmlformats-package.relationships+xml"/>
  <Override PartName="/ppt/slides/_rels/slide21.xml.rels" ContentType="application/vnd.openxmlformats-package.relationships+xml"/>
  <Override PartName="/ppt/slides/_rels/slide30.xml.rels" ContentType="application/vnd.openxmlformats-package.relationships+xml"/>
  <Override PartName="/ppt/slides/_rels/slide13.xml.rels" ContentType="application/vnd.openxmlformats-package.relationships+xml"/>
  <Override PartName="/ppt/slides/_rels/slide28.xml.rels" ContentType="application/vnd.openxmlformats-package.relationships+xml"/>
  <Override PartName="/ppt/slides/_rels/slide1.xml.rels" ContentType="application/vnd.openxmlformats-package.relationships+xml"/>
  <Override PartName="/ppt/slides/_rels/slide45.xml.rels" ContentType="application/vnd.openxmlformats-package.relationships+xml"/>
  <Override PartName="/ppt/slides/_rels/slide38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4.xml.rels" ContentType="application/vnd.openxmlformats-package.relationships+xml"/>
  <Override PartName="/ppt/slides/_rels/slide33.xml.rels" ContentType="application/vnd.openxmlformats-package.relationships+xml"/>
  <Override PartName="/ppt/slides/_rels/slide16.xml.rels" ContentType="application/vnd.openxmlformats-package.relationships+xml"/>
  <Override PartName="/ppt/slides/_rels/slide41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slide25.xml" ContentType="application/vnd.openxmlformats-officedocument.presentationml.slide+xml"/>
  <Override PartName="/ppt/slides/slide42.xml" ContentType="application/vnd.openxmlformats-officedocument.presentationml.slide+xml"/>
  <Override PartName="/ppt/slides/slide17.xml" ContentType="application/vnd.openxmlformats-officedocument.presentationml.slide+xml"/>
  <Override PartName="/ppt/slides/slide34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3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31.xml" ContentType="application/vnd.openxmlformats-officedocument.presentationml.slide+xml"/>
  <Override PartName="/ppt/slides/slide15.xml" ContentType="application/vnd.openxmlformats-officedocument.presentationml.slide+xml"/>
  <Override PartName="/ppt/slides/slide32.xml" ContentType="application/vnd.openxmlformats-officedocument.presentationml.slide+xml"/>
  <Override PartName="/ppt/slides/slide23.xml" ContentType="application/vnd.openxmlformats-officedocument.presentationml.slide+xml"/>
  <Override PartName="/ppt/slides/slide40.xml" ContentType="application/vnd.openxmlformats-officedocument.presentationml.slide+xml"/>
  <Override PartName="/ppt/slides/slide16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/>
  <p:notesSz cx="6797675" cy="98742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dt" idx="1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ftr" idx="1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PlaceHolder 6"/>
          <p:cNvSpPr>
            <a:spLocks noGrp="1"/>
          </p:cNvSpPr>
          <p:nvPr>
            <p:ph type="sldNum" idx="1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0615D15-CDC9-4E52-9844-0E553B00A3E0}" type="slidenum"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108000" y="741240"/>
            <a:ext cx="6581160" cy="370116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61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AD7315-ED53-42CE-B068-9964CBFB6991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PlaceHolder 4"/>
          <p:cNvSpPr>
            <a:spLocks noGrp="1"/>
          </p:cNvSpPr>
          <p:nvPr>
            <p:ph type="dt" idx="62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PlaceHolder 5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63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E6EE95-C08D-493D-AB2A-D13A6D73B00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PlaceHolder 4"/>
          <p:cNvSpPr>
            <a:spLocks noGrp="1"/>
          </p:cNvSpPr>
          <p:nvPr>
            <p:ph type="dt" idx="64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PlaceHolder 5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 type="dt" idx="65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PlaceHolder 5"/>
          <p:cNvSpPr>
            <a:spLocks noGrp="1"/>
          </p:cNvSpPr>
          <p:nvPr>
            <p:ph type="ftr" idx="66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PlaceHolder 6"/>
          <p:cNvSpPr>
            <a:spLocks noGrp="1"/>
          </p:cNvSpPr>
          <p:nvPr>
            <p:ph type="sldNum" idx="67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A67136-00ED-4C1F-BA09-0B0CFE00B4E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 type="dt" idx="68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PlaceHolder 5"/>
          <p:cNvSpPr>
            <a:spLocks noGrp="1"/>
          </p:cNvSpPr>
          <p:nvPr>
            <p:ph type="ftr" idx="69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PlaceHolder 6"/>
          <p:cNvSpPr>
            <a:spLocks noGrp="1"/>
          </p:cNvSpPr>
          <p:nvPr>
            <p:ph type="sldNum" idx="70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44067B-7033-404F-87DC-AFAE4255129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PlaceHolder 4"/>
          <p:cNvSpPr>
            <a:spLocks noGrp="1"/>
          </p:cNvSpPr>
          <p:nvPr>
            <p:ph type="dt" idx="71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PlaceHolder 5"/>
          <p:cNvSpPr>
            <a:spLocks noGrp="1"/>
          </p:cNvSpPr>
          <p:nvPr>
            <p:ph type="ftr" idx="72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PlaceHolder 6"/>
          <p:cNvSpPr>
            <a:spLocks noGrp="1"/>
          </p:cNvSpPr>
          <p:nvPr>
            <p:ph type="sldNum" idx="73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AE0DA3-5D10-4C9A-97C1-E018F3C0E42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dt" idx="74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PlaceHolder 5"/>
          <p:cNvSpPr>
            <a:spLocks noGrp="1"/>
          </p:cNvSpPr>
          <p:nvPr>
            <p:ph type="ftr" idx="75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PlaceHolder 6"/>
          <p:cNvSpPr>
            <a:spLocks noGrp="1"/>
          </p:cNvSpPr>
          <p:nvPr>
            <p:ph type="sldNum" idx="76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259A4A-B36D-4851-9CB4-BFF8FF07E08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PlaceHolder 4"/>
          <p:cNvSpPr>
            <a:spLocks noGrp="1"/>
          </p:cNvSpPr>
          <p:nvPr>
            <p:ph type="dt" idx="77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PlaceHolder 5"/>
          <p:cNvSpPr>
            <a:spLocks noGrp="1"/>
          </p:cNvSpPr>
          <p:nvPr>
            <p:ph type="ftr" idx="78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PlaceHolder 6"/>
          <p:cNvSpPr>
            <a:spLocks noGrp="1"/>
          </p:cNvSpPr>
          <p:nvPr>
            <p:ph type="sldNum" idx="79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E30A5A-68F3-41A1-9005-8A9D89D1F7A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PlaceHolder 4"/>
          <p:cNvSpPr>
            <a:spLocks noGrp="1"/>
          </p:cNvSpPr>
          <p:nvPr>
            <p:ph type="dt" idx="80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PlaceHolder 5"/>
          <p:cNvSpPr>
            <a:spLocks noGrp="1"/>
          </p:cNvSpPr>
          <p:nvPr>
            <p:ph type="ftr" idx="81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PlaceHolder 6"/>
          <p:cNvSpPr>
            <a:spLocks noGrp="1"/>
          </p:cNvSpPr>
          <p:nvPr>
            <p:ph type="sldNum" idx="82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AD8EA2-9018-42C4-95A5-F3987045587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PlaceHolder 4"/>
          <p:cNvSpPr>
            <a:spLocks noGrp="1"/>
          </p:cNvSpPr>
          <p:nvPr>
            <p:ph type="dt" idx="83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PlaceHolder 5"/>
          <p:cNvSpPr>
            <a:spLocks noGrp="1"/>
          </p:cNvSpPr>
          <p:nvPr>
            <p:ph type="ftr" idx="84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PlaceHolder 6"/>
          <p:cNvSpPr>
            <a:spLocks noGrp="1"/>
          </p:cNvSpPr>
          <p:nvPr>
            <p:ph type="sldNum" idx="85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926E3A-0E6D-4891-9347-D66849FC6A2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 type="dt" idx="86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 type="ftr" idx="87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PlaceHolder 6"/>
          <p:cNvSpPr>
            <a:spLocks noGrp="1"/>
          </p:cNvSpPr>
          <p:nvPr>
            <p:ph type="sldNum" idx="88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0E3ED7-3E4C-410D-AF04-F45EB6CDFB2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PlaceHolder 4"/>
          <p:cNvSpPr>
            <a:spLocks noGrp="1"/>
          </p:cNvSpPr>
          <p:nvPr>
            <p:ph type="dt" idx="89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PlaceHolder 5"/>
          <p:cNvSpPr>
            <a:spLocks noGrp="1"/>
          </p:cNvSpPr>
          <p:nvPr>
            <p:ph type="ftr" idx="90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PlaceHolder 6"/>
          <p:cNvSpPr>
            <a:spLocks noGrp="1"/>
          </p:cNvSpPr>
          <p:nvPr>
            <p:ph type="sldNum" idx="91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E50821-CDDB-409B-975B-D52026A28BD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PlaceHolder 4"/>
          <p:cNvSpPr>
            <a:spLocks noGrp="1"/>
          </p:cNvSpPr>
          <p:nvPr>
            <p:ph type="dt" idx="92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PlaceHolder 5"/>
          <p:cNvSpPr>
            <a:spLocks noGrp="1"/>
          </p:cNvSpPr>
          <p:nvPr>
            <p:ph type="ftr" idx="93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PlaceHolder 6"/>
          <p:cNvSpPr>
            <a:spLocks noGrp="1"/>
          </p:cNvSpPr>
          <p:nvPr>
            <p:ph type="sldNum" idx="94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715B40-E8E9-435D-B0C7-709FC821493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95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2D15C5-7E9F-4BE2-A23A-82243DFA427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109440" y="741240"/>
            <a:ext cx="6577920" cy="370116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79320" y="4691160"/>
            <a:ext cx="5438160" cy="44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Software I 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PlaceHolder 4"/>
          <p:cNvSpPr>
            <a:spLocks noGrp="1"/>
          </p:cNvSpPr>
          <p:nvPr>
            <p:ph type="dt" idx="96"/>
          </p:nvPr>
        </p:nvSpPr>
        <p:spPr>
          <a:xfrm>
            <a:off x="3849840" y="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2011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PlaceHolder 5"/>
          <p:cNvSpPr>
            <a:spLocks noGrp="1"/>
          </p:cNvSpPr>
          <p:nvPr>
            <p:ph type="ftr" idx="97"/>
          </p:nvPr>
        </p:nvSpPr>
        <p:spPr>
          <a:xfrm>
            <a:off x="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  <a:ea typeface="Calibri"/>
              </a:rPr>
              <a:t>Facultad de Informatica UNLP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PlaceHolder 6"/>
          <p:cNvSpPr>
            <a:spLocks noGrp="1"/>
          </p:cNvSpPr>
          <p:nvPr>
            <p:ph type="sldNum" idx="98"/>
          </p:nvPr>
        </p:nvSpPr>
        <p:spPr>
          <a:xfrm>
            <a:off x="3849840" y="9379080"/>
            <a:ext cx="2945520" cy="49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481B71-24E1-49D3-B103-056FF2BA550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5D142D5-591A-4783-BA78-3BA71B90F9D6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CF23623-3BED-42DA-A710-680DA3710B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81771C8-6907-4F15-BDE0-728ABECA3C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F6E5708-989A-4C44-8A5D-7C9E0DE729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5CA6637-B062-4A9F-8E37-310E097457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8A105AB-AA0D-4020-9990-CBF262198E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08BC80F-2C06-45B9-8A3F-E1004650C9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4B68002-ACC9-41E4-9DDE-3D4D042965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17A660C-C189-415F-AB24-9023F4549F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1858FE6-3331-41A7-8C42-EA6CE7921F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E665A7E-B8B3-422B-BFB1-102AF126DA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FD8A741-44C2-485E-9910-EF68C1913D83}" type="slidenum">
              <a:t>&lt;#&gt;</a:t>
            </a:fld>
          </a:p>
        </p:txBody>
      </p:sp>
      <p:sp>
        <p:nvSpPr>
          <p:cNvPr id="10" name="PlaceHolder 9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B57C4E9-21C2-47AA-A502-ADE605C0AB90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EBAE1DD-6C78-4C79-B02C-24C9A8A91F1C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048E40B-382F-4C14-9EAC-87F7B7C1A405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DC2E33B-23F9-42D8-BC3A-1AD3C980D2E8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A7E08F8-735B-4EDC-A6B0-9A9FA24AA98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AD4B8D6-62AA-4C1F-9C6E-92163846956A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3935FAA-4C19-4908-9071-6D0EDBA52FAB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45E9A6F-2433-46CC-B060-6E36ECB5E188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04CBB3D-CB19-46F8-8552-BE9856D0D03D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8BDC6FD-FE87-4FB2-B196-4D3119D05A32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EC8E027-3ADB-4C0F-903B-131B707EAA89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66265B6-48E1-4FEE-9564-2FA246103426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B83C72-1630-4F0B-8108-B71C7E48B2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402485-56B6-4976-B58F-4CD17E7014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2F5FD1-C840-4E67-AC7C-66AE56B139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D42DFD-7B1D-45AA-8445-69EFE55CBB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C9A2B2-9519-491E-B4B4-536EC9C46C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A4C9A6-308E-434D-A232-0FB9D44102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1E7EC4-C714-479B-A05C-3513190974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87251F-540D-4890-A9B7-063FE6EDA6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7F1483-7D62-4576-BF65-6B6C0F18AF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C71FFC-4AC7-43C1-9976-19F358647B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90776E-1E31-4460-9918-195C63C6C41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B61143-4DF1-47E0-B985-BD940CEDE2F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AF380DF-4987-4BCD-9853-FC892C2FA6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59BC551-FCD3-4D0F-AEF6-3D3939C1B2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9D9E23D-1D6B-43ED-8AF5-A9ED158C63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99CBEF0-09D4-4588-B48A-43561D40C1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41D3D28-5EFE-45A8-8353-612B2C4861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ABE5AFD-6A4D-434D-BE5F-20090F2796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45F43F7-E161-4386-8E5E-7B6CC88107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97DAD20-3333-47D9-B2B5-C32D6D228B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5B88650-6CD1-4D99-A58E-426C135460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F3102C7-5BA5-4BE1-8DFE-68800963AF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D56223F-1FB7-4F12-B96A-4DA76EA5EA3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304D445-D9B7-4921-B74E-D5DF388567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06EBFA1-1B3E-457B-AF5B-D567354228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FD42138-39C9-415D-8A52-A0A2445C6A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2D0419D-A61E-4CEC-B6B9-A664EF2D95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A50395D-6EB3-489A-AD9E-DE843FD6A3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6B46416-91B8-4787-B166-C1C38C2236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290F598-D1F1-4FC6-A013-EBC661B826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BF72BE-385E-40BC-807E-21D06D643C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40F5F0A-4899-463D-B1D3-75930E61A8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8D83012-D39E-4406-95DE-956DE6167B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C1C0ABB-AC83-446F-AF57-57E8A48661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51BEA54-2ED1-4AE4-BF4B-C29F704054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013A7D5-391B-456B-81CB-012FE26C5F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3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Ingeniería de software 2024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11;p3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2" name="Google Shape;15;p31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3" name="Google Shape;16;p31"/>
          <p:cNvSpPr/>
          <p:nvPr/>
        </p:nvSpPr>
        <p:spPr>
          <a:xfrm>
            <a:off x="6095880" y="6499440"/>
            <a:ext cx="615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Google Shape;22;p32" descr="2"/>
          <p:cNvPicPr/>
          <p:nvPr/>
        </p:nvPicPr>
        <p:blipFill>
          <a:blip r:embed="rId2"/>
          <a:srcRect l="8461" t="0" r="0" b="0"/>
          <a:stretch/>
        </p:blipFill>
        <p:spPr>
          <a:xfrm>
            <a:off x="23760" y="0"/>
            <a:ext cx="12143880" cy="42771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chemeClr val="accent6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95892C-E04A-4958-B192-B31BF6452920}" type="slidenum">
              <a:rPr b="0" lang="en-US" sz="1050" spc="-1" strike="noStrike">
                <a:solidFill>
                  <a:schemeClr val="accent6"/>
                </a:solidFill>
                <a:latin typeface="Calibri"/>
                <a:ea typeface="Calibri"/>
              </a:rPr>
              <a:t>44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2"/>
          </p:nvPr>
        </p:nvSpPr>
        <p:spPr>
          <a:xfrm>
            <a:off x="3211200" y="6481080"/>
            <a:ext cx="4114080" cy="22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del texto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0;p3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Ingeniería de software 2024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11;p3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47" name="Google Shape;15;p31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48" name="Google Shape;16;p31"/>
          <p:cNvSpPr/>
          <p:nvPr/>
        </p:nvSpPr>
        <p:spPr>
          <a:xfrm>
            <a:off x="6095880" y="6499440"/>
            <a:ext cx="615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ftr" idx="3"/>
          </p:nvPr>
        </p:nvSpPr>
        <p:spPr>
          <a:xfrm>
            <a:off x="6671880" y="6308640"/>
            <a:ext cx="4704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4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1531E9-4009-420C-BDA8-E4208028AA5B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del texto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0;p3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Ingeniería de software 2024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1;p3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91" name="Google Shape;15;p31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92" name="Google Shape;16;p31"/>
          <p:cNvSpPr/>
          <p:nvPr/>
        </p:nvSpPr>
        <p:spPr>
          <a:xfrm>
            <a:off x="6095880" y="6499440"/>
            <a:ext cx="615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1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5CAE2E-919D-4BB9-BBF0-19D1ED925AC4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del texto </a:t>
            </a: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0;p31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Ingeniería de software 2024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11;p31" hidden="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136" name="Google Shape;15;p31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137" name="Google Shape;16;p31" hidden="1"/>
          <p:cNvSpPr/>
          <p:nvPr/>
        </p:nvSpPr>
        <p:spPr>
          <a:xfrm>
            <a:off x="6095880" y="6499440"/>
            <a:ext cx="615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Google Shape;39;p7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9" name="Google Shape;40;p7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1680" bIns="316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40" name="Google Shape;44;p7"/>
          <p:cNvSpPr/>
          <p:nvPr/>
        </p:nvSpPr>
        <p:spPr>
          <a:xfrm>
            <a:off x="-1531080" y="6446520"/>
            <a:ext cx="48222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45360" bIns="45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900" spc="-1" strike="noStrike">
                <a:solidFill>
                  <a:schemeClr val="lt1"/>
                </a:solidFill>
                <a:latin typeface="Calibri"/>
                <a:ea typeface="Calibri"/>
              </a:rPr>
              <a:t>Ingeniería de Software I 2024</a:t>
            </a:r>
            <a:endParaRPr b="0" lang="es-A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4B894C-7434-4CB5-9A3A-6B065446AB32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0;p31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91080" bIns="91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Ingeniería de software 2024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11;p31" hidden="1"/>
          <p:cNvSpPr/>
          <p:nvPr/>
        </p:nvSpPr>
        <p:spPr>
          <a:xfrm>
            <a:off x="0" y="6334200"/>
            <a:ext cx="12191400" cy="65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1080" rIns="91080" tIns="33120" bIns="3312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cxnSp>
        <p:nvCxnSpPr>
          <p:cNvPr id="184" name="Google Shape;15;p31"/>
          <p:cNvCxnSpPr/>
          <p:nvPr/>
        </p:nvCxnSpPr>
        <p:spPr>
          <a:xfrm>
            <a:off x="1193400" y="1737720"/>
            <a:ext cx="9967680" cy="720"/>
          </a:xfrm>
          <a:prstGeom prst="straightConnector1">
            <a:avLst/>
          </a:prstGeom>
          <a:ln w="9525">
            <a:solidFill>
              <a:srgbClr val="7f7f7f"/>
            </a:solidFill>
            <a:round/>
          </a:ln>
        </p:spPr>
      </p:cxnSp>
      <p:sp>
        <p:nvSpPr>
          <p:cNvPr id="185" name="Google Shape;16;p31" hidden="1"/>
          <p:cNvSpPr/>
          <p:nvPr/>
        </p:nvSpPr>
        <p:spPr>
          <a:xfrm>
            <a:off x="6095880" y="6499440"/>
            <a:ext cx="615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Arial"/>
              </a:rPr>
              <a:t>Fuente: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2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2C3D16-6832-4E16-8606-A34906B13B9F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51520" y="4663440"/>
            <a:ext cx="10780200" cy="610200"/>
          </a:xfrm>
          <a:prstGeom prst="rect">
            <a:avLst/>
          </a:prstGeom>
          <a:noFill/>
          <a:ln w="0">
            <a:noFill/>
          </a:ln>
        </p:spPr>
        <p:txBody>
          <a:bodyPr lIns="91080" rIns="91080" tIns="45360" bIns="45360" anchor="b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3290" spc="-1" strike="noStrike">
                <a:solidFill>
                  <a:srgbClr val="c00000"/>
                </a:solidFill>
                <a:latin typeface="Calibri"/>
                <a:ea typeface="Calibri"/>
              </a:rPr>
              <a:t>Ingeniería de Software I – Clase 3</a:t>
            </a:r>
            <a:endParaRPr b="0" lang="es-AR" sz="32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Google Shape;298;p1" descr=""/>
          <p:cNvPicPr/>
          <p:nvPr/>
        </p:nvPicPr>
        <p:blipFill>
          <a:blip r:embed="rId1"/>
          <a:stretch/>
        </p:blipFill>
        <p:spPr>
          <a:xfrm>
            <a:off x="10758240" y="4968720"/>
            <a:ext cx="1146600" cy="114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AR" sz="4800" spc="-1" strike="noStrike">
                <a:solidFill>
                  <a:srgbClr val="3f3f3f"/>
                </a:solidFill>
                <a:latin typeface="Calibri"/>
                <a:ea typeface="Calibri"/>
              </a:rPr>
              <a:t>Temas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527400" y="6309360"/>
            <a:ext cx="41904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7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CBF902-43B9-4FCC-AB2B-7E0299E5C29E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CuadroTexto 7"/>
          <p:cNvSpPr/>
          <p:nvPr/>
        </p:nvSpPr>
        <p:spPr>
          <a:xfrm>
            <a:off x="1278360" y="2503440"/>
            <a:ext cx="7300800" cy="27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  <a:ea typeface="Arial"/>
              </a:rPr>
              <a:t>Tipos de requerimientos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  <a:ea typeface="Arial"/>
              </a:rPr>
              <a:t>Ingeniería de requerimientos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  <a:ea typeface="Arial"/>
              </a:rPr>
              <a:t>Casos de uso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Requerimientos -Tipos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B53607-DB29-4925-BC6C-DBE7F5A19708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513000" y="1413000"/>
            <a:ext cx="10359360" cy="4031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marL="6876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3600" indent="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Requerimientos funcionales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Describen una interacción entre el sistema y su ambiente. Cómo debe comportarse el sistema ante determinado estímulo.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Describen lo que el sistema </a:t>
            </a:r>
            <a:r>
              <a:rPr b="0" lang="es-ES" sz="2400" spc="-1" strike="noStrike" u="sng">
                <a:solidFill>
                  <a:srgbClr val="3f3f3f"/>
                </a:solidFill>
                <a:uFillTx/>
                <a:latin typeface="Calibri"/>
                <a:ea typeface="Calibri"/>
              </a:rPr>
              <a:t>debe hacer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, o incluso cómo </a:t>
            </a:r>
            <a:r>
              <a:rPr b="0" lang="es-ES" sz="2400" spc="-1" strike="noStrike" u="sng">
                <a:solidFill>
                  <a:srgbClr val="3f3f3f"/>
                </a:solidFill>
                <a:uFillTx/>
                <a:latin typeface="Calibri"/>
                <a:ea typeface="Calibri"/>
              </a:rPr>
              <a:t>NO debe 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comportarse.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Describen con detalle la funcionalidad del mismo.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Son independientes de la implementación de la solución.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Se pueden expresar de distintas formas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360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Requerimientos no funcionales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Describen una </a:t>
            </a:r>
            <a:r>
              <a:rPr b="0" lang="es-ES" sz="2400" spc="-1" strike="noStrike" u="sng">
                <a:solidFill>
                  <a:srgbClr val="3f3f3f"/>
                </a:solidFill>
                <a:uFillTx/>
                <a:latin typeface="Calibri"/>
                <a:ea typeface="Calibri"/>
              </a:rPr>
              <a:t>restricción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 sobre el sistema que limita nuestras elecciones en la construcción de una solución al problema.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90000"/>
              </a:lnSpc>
              <a:spcBef>
                <a:spcPts val="6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Requerimientos - Tipos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1097280" y="146916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marL="6876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3600" indent="0">
              <a:lnSpc>
                <a:spcPct val="9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Requerimientos no funcionales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s-AR" sz="11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Requerimientos del producto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5" marL="900000" indent="-17136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Calibri"/>
              <a:buChar char="◦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Especifican el comportamiento del producto (usabilidad, eficiencia, rendimiento, espacio, fiabilidad, portabilidad).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Requerimientos organizacionales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5" marL="900000" indent="-17136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Calibri"/>
              <a:buChar char="◦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Se derivan de las políticas y procedimientos existentes en la organización del cliente y en la del desarrollador (entrega, implementación, estándares).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Requerimientos externos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5" marL="900000" indent="-171360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Calibri"/>
              <a:buChar char="◦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Interoperabilidad, legales, privacidad, seguridad, éticos.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90000"/>
              </a:lnSpc>
              <a:spcBef>
                <a:spcPts val="15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9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C048A6-8A80-4EBC-83F1-4EB919A36370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Requerimientos No Funcionales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" name="Google Shape;278;p12" descr=""/>
          <p:cNvPicPr/>
          <p:nvPr/>
        </p:nvPicPr>
        <p:blipFill>
          <a:blip r:embed="rId1"/>
          <a:stretch/>
        </p:blipFill>
        <p:spPr>
          <a:xfrm>
            <a:off x="2692800" y="1995840"/>
            <a:ext cx="6865920" cy="3723120"/>
          </a:xfrm>
          <a:prstGeom prst="rect">
            <a:avLst/>
          </a:prstGeom>
          <a:ln w="0">
            <a:noFill/>
          </a:ln>
        </p:spPr>
      </p:pic>
      <p:sp>
        <p:nvSpPr>
          <p:cNvPr id="248" name="PlaceHolder 2"/>
          <p:cNvSpPr>
            <a:spLocks noGrp="1"/>
          </p:cNvSpPr>
          <p:nvPr>
            <p:ph type="sldNum" idx="20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7614AD-E81C-4BED-A53C-468942818FC4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4726800" y="6459840"/>
            <a:ext cx="6044040" cy="3567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marL="68760" indent="-68760">
              <a:lnSpc>
                <a:spcPct val="90000"/>
              </a:lnSpc>
              <a:spcAft>
                <a:spcPts val="201"/>
              </a:spcAft>
              <a:buClr>
                <a:srgbClr val="549e39"/>
              </a:buClr>
              <a:buFont typeface="Calibri"/>
              <a:buChar char=" "/>
            </a:pPr>
            <a:r>
              <a:rPr b="0" lang="es-ES" sz="2000" spc="-1" strike="noStrike">
                <a:solidFill>
                  <a:srgbClr val="3f3f3f"/>
                </a:solidFill>
                <a:latin typeface="Calibri"/>
                <a:ea typeface="Calibri"/>
              </a:rPr>
              <a:t>Sommerville, pag 109  Capítulos 6 y 7 - 7ma edicion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281;p12"/>
          <p:cNvSpPr/>
          <p:nvPr/>
        </p:nvSpPr>
        <p:spPr>
          <a:xfrm>
            <a:off x="2063520" y="1628640"/>
            <a:ext cx="3707280" cy="1439280"/>
          </a:xfrm>
          <a:custGeom>
            <a:avLst/>
            <a:gdLst>
              <a:gd name="textAreaLeft" fmla="*/ 0 w 3707280"/>
              <a:gd name="textAreaRight" fmla="*/ 3708000 w 3707280"/>
              <a:gd name="textAreaTop" fmla="*/ 0 h 1439280"/>
              <a:gd name="textAreaBottom" fmla="*/ 1440000 h 143928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8628" y="34693"/>
                </a:moveTo>
                <a:lnTo>
                  <a:pt x="45433" y="189182"/>
                </a:lnTo>
              </a:path>
            </a:pathLst>
          </a:custGeom>
          <a:gradFill rotWithShape="0">
            <a:gsLst>
              <a:gs pos="0">
                <a:srgbClr val="dfadad"/>
              </a:gs>
              <a:gs pos="100000">
                <a:srgbClr val="d69393"/>
              </a:gs>
            </a:gsLst>
            <a:lin ang="2700000"/>
          </a:gradFill>
          <a:ln w="9525">
            <a:solidFill>
              <a:srgbClr val="549e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457200">
              <a:lnSpc>
                <a:spcPct val="7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4b5064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Estética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7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Consistencia de Interfaz de Usuario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7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Ayuda en línea o “context-sensitive”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7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Documentación de Usuario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70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Materiales de Capacitación/Entrenamiento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algn="ctr">
              <a:lnSpc>
                <a:spcPct val="70000"/>
              </a:lnSpc>
              <a:spcBef>
                <a:spcPts val="601"/>
              </a:spcBef>
              <a:tabLst>
                <a:tab algn="l" pos="0"/>
              </a:tabLst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282;p12"/>
          <p:cNvSpPr/>
          <p:nvPr/>
        </p:nvSpPr>
        <p:spPr>
          <a:xfrm>
            <a:off x="6365880" y="5013000"/>
            <a:ext cx="2753640" cy="1110960"/>
          </a:xfrm>
          <a:custGeom>
            <a:avLst/>
            <a:gdLst>
              <a:gd name="textAreaLeft" fmla="*/ 0 w 2753640"/>
              <a:gd name="textAreaRight" fmla="*/ 2754360 w 2753640"/>
              <a:gd name="textAreaTop" fmla="*/ 0 h 1110960"/>
              <a:gd name="textAreaBottom" fmla="*/ 1111680 h 111096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-10000" y="22500"/>
                </a:moveTo>
                <a:lnTo>
                  <a:pt x="-59954" y="-144566"/>
                </a:lnTo>
              </a:path>
            </a:pathLst>
          </a:custGeom>
          <a:gradFill rotWithShape="0">
            <a:gsLst>
              <a:gs pos="0">
                <a:srgbClr val="dfadad"/>
              </a:gs>
              <a:gs pos="100000">
                <a:srgbClr val="d69393"/>
              </a:gs>
            </a:gsLst>
            <a:lin ang="2700000"/>
          </a:gradFill>
          <a:ln w="9525">
            <a:solidFill>
              <a:srgbClr val="549e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Frecuencia y severidad de fallas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Facilidades de recuperación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Posibilidades de predicción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algn="ctr">
              <a:lnSpc>
                <a:spcPct val="100000"/>
              </a:lnSpc>
              <a:tabLst>
                <a:tab algn="l" pos="0"/>
              </a:tabLst>
            </a:pP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Google Shape;283;p12"/>
          <p:cNvSpPr/>
          <p:nvPr/>
        </p:nvSpPr>
        <p:spPr>
          <a:xfrm>
            <a:off x="7284240" y="1628640"/>
            <a:ext cx="2274480" cy="1439280"/>
          </a:xfrm>
          <a:custGeom>
            <a:avLst/>
            <a:gdLst>
              <a:gd name="textAreaLeft" fmla="*/ 0 w 2274480"/>
              <a:gd name="textAreaRight" fmla="*/ 2275200 w 2274480"/>
              <a:gd name="textAreaTop" fmla="*/ 0 h 1439280"/>
              <a:gd name="textAreaBottom" fmla="*/ 1440000 h 143928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-10000" y="22500"/>
                </a:moveTo>
                <a:lnTo>
                  <a:pt x="-218185" y="262846"/>
                </a:lnTo>
              </a:path>
            </a:pathLst>
          </a:custGeom>
          <a:gradFill rotWithShape="0">
            <a:gsLst>
              <a:gs pos="0">
                <a:srgbClr val="dfadad"/>
              </a:gs>
              <a:gs pos="100000">
                <a:srgbClr val="d69393"/>
              </a:gs>
            </a:gsLst>
            <a:lin ang="2700000"/>
          </a:gradFill>
          <a:ln w="9525">
            <a:solidFill>
              <a:srgbClr val="549e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457200">
              <a:lnSpc>
                <a:spcPct val="75000"/>
              </a:lnSpc>
              <a:tabLst>
                <a:tab algn="l" pos="0"/>
              </a:tabLst>
            </a:pPr>
            <a:r>
              <a:rPr b="1" lang="es-ES" sz="1600" spc="-1" strike="noStrike">
                <a:solidFill>
                  <a:srgbClr val="4b5064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Eficiencia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75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Disponibilidad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75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Tiempo de Respuesta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75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Tiempo de Recuperación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75000"/>
              </a:lnSpc>
              <a:spcBef>
                <a:spcPts val="601"/>
              </a:spcBef>
              <a:tabLst>
                <a:tab algn="l" pos="0"/>
              </a:tabLst>
            </a:pP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•</a:t>
            </a:r>
            <a:r>
              <a:rPr b="1" lang="es-ES" sz="1600" spc="-1" strike="noStrike">
                <a:solidFill>
                  <a:srgbClr val="3f3f3f"/>
                </a:solidFill>
                <a:latin typeface="Calibri"/>
                <a:ea typeface="Calibri"/>
              </a:rPr>
              <a:t>Uso de recursos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algn="ctr">
              <a:lnSpc>
                <a:spcPct val="75000"/>
              </a:lnSpc>
              <a:spcBef>
                <a:spcPts val="601"/>
              </a:spcBef>
              <a:tabLst>
                <a:tab algn="l" pos="0"/>
              </a:tabLst>
            </a:pP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"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2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1" dur="2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2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1" dur="2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Ingeniería de Requerimientos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1350720" y="4033800"/>
            <a:ext cx="9686520" cy="181512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La ingeniería de requerimientos es la disciplina para desarrollar una especificación completa, consistente y no ambigua, la cual servirá como base para acuerdos comunes entre todas las partes involucradas y en donde se describen las funciones que realizará el sistema.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BCE712-95F5-4E6B-91F4-2BCB082DB323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Google Shape;291;p15"/>
          <p:cNvSpPr/>
          <p:nvPr/>
        </p:nvSpPr>
        <p:spPr>
          <a:xfrm>
            <a:off x="1350720" y="1918080"/>
            <a:ext cx="9205200" cy="21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i="1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Ingeniería de requerimientos </a:t>
            </a: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es el proceso por el cual se transforman los requerimientos declarados por los clientes, ya sean hablados o escritos, </a:t>
            </a:r>
            <a:r>
              <a:rPr b="0" lang="es-ES" sz="2200" spc="-1" strike="noStrike" u="sng">
                <a:solidFill>
                  <a:schemeClr val="dk1"/>
                </a:solidFill>
                <a:uFillTx/>
                <a:latin typeface="Calibri"/>
                <a:ea typeface="Calibri"/>
              </a:rPr>
              <a:t>a especificaciones precisas, no ambiguas, consistentes y completas </a:t>
            </a: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del comportamiento del sistema, incluyendo funciones, interfaces, rendimiento y limitaciones”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Google Shape;292;p15"/>
          <p:cNvSpPr/>
          <p:nvPr/>
        </p:nvSpPr>
        <p:spPr>
          <a:xfrm>
            <a:off x="8792640" y="0"/>
            <a:ext cx="781920" cy="665280"/>
          </a:xfrm>
          <a:prstGeom prst="ellipse">
            <a:avLst/>
          </a:prstGeom>
          <a:noFill/>
          <a:ln w="28575">
            <a:solidFill>
              <a:srgbClr val="8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58" name="Google Shape;293;p15"/>
          <p:cNvSpPr/>
          <p:nvPr/>
        </p:nvSpPr>
        <p:spPr>
          <a:xfrm rot="21560400">
            <a:off x="7932960" y="3610440"/>
            <a:ext cx="1951560" cy="568800"/>
          </a:xfrm>
          <a:custGeom>
            <a:avLst/>
            <a:gdLst>
              <a:gd name="textAreaLeft" fmla="*/ 0 w 1951560"/>
              <a:gd name="textAreaRight" fmla="*/ 1952280 w 1951560"/>
              <a:gd name="textAreaTop" fmla="*/ 0 h 568800"/>
              <a:gd name="textAreaBottom" fmla="*/ 569520 h 56880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-10000" y="0"/>
                </a:moveTo>
              </a:path>
              <a:path fill="none" w="120000" h="120000">
                <a:moveTo>
                  <a:pt x="-10000" y="22500"/>
                </a:moveTo>
                <a:lnTo>
                  <a:pt x="-127010" y="-76177"/>
                </a:lnTo>
              </a:path>
            </a:pathLst>
          </a:custGeom>
          <a:solidFill>
            <a:srgbClr val="b2b2b2"/>
          </a:solidFill>
          <a:ln w="12700">
            <a:solidFill>
              <a:srgbClr val="8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ES" sz="1800" spc="-1" strike="noStrike">
                <a:solidFill>
                  <a:schemeClr val="lt1"/>
                </a:solidFill>
                <a:latin typeface="Calibri"/>
                <a:ea typeface="Calibri"/>
              </a:rPr>
              <a:t>SRS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Google Shape;294;p15"/>
          <p:cNvSpPr/>
          <p:nvPr/>
        </p:nvSpPr>
        <p:spPr>
          <a:xfrm>
            <a:off x="7706160" y="5575320"/>
            <a:ext cx="1839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grpSp>
        <p:nvGrpSpPr>
          <p:cNvPr id="260" name="Google Shape;295;p15"/>
          <p:cNvGrpSpPr/>
          <p:nvPr/>
        </p:nvGrpSpPr>
        <p:grpSpPr>
          <a:xfrm>
            <a:off x="8885880" y="87480"/>
            <a:ext cx="2887560" cy="2572560"/>
            <a:chOff x="8885880" y="87480"/>
            <a:chExt cx="2887560" cy="2572560"/>
          </a:xfrm>
        </p:grpSpPr>
        <p:sp>
          <p:nvSpPr>
            <p:cNvPr id="261" name="Google Shape;296;p15"/>
            <p:cNvSpPr/>
            <p:nvPr/>
          </p:nvSpPr>
          <p:spPr>
            <a:xfrm rot="5400000">
              <a:off x="8991720" y="528120"/>
              <a:ext cx="396720" cy="451800"/>
            </a:xfrm>
            <a:prstGeom prst="bentUpArrow">
              <a:avLst>
                <a:gd name="adj1" fmla="val 32840"/>
                <a:gd name="adj2" fmla="val 25000"/>
                <a:gd name="adj3" fmla="val 35780"/>
              </a:avLst>
            </a:prstGeom>
            <a:solidFill>
              <a:srgbClr val="c6c4c4"/>
            </a:solidFill>
            <a:ln w="158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160" bIns="65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2" name="Google Shape;297;p15"/>
            <p:cNvSpPr/>
            <p:nvPr/>
          </p:nvSpPr>
          <p:spPr>
            <a:xfrm>
              <a:off x="8885880" y="87480"/>
              <a:ext cx="668520" cy="467640"/>
            </a:xfrm>
            <a:prstGeom prst="roundRect">
              <a:avLst>
                <a:gd name="adj" fmla="val 16670"/>
              </a:avLst>
            </a:prstGeom>
            <a:solidFill>
              <a:srgbClr val="96093a"/>
            </a:solidFill>
            <a:ln w="158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3" name="Google Shape;298;p15"/>
            <p:cNvSpPr/>
            <p:nvPr/>
          </p:nvSpPr>
          <p:spPr>
            <a:xfrm>
              <a:off x="8908560" y="110520"/>
              <a:ext cx="622800" cy="4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2680" rIns="22680" tIns="22680" bIns="22680" anchor="ctr">
              <a:noAutofit/>
            </a:bodyPr>
            <a:p>
              <a:pPr algn="ctr">
                <a:lnSpc>
                  <a:spcPct val="90000"/>
                </a:lnSpc>
                <a:tabLst>
                  <a:tab algn="l" pos="0"/>
                </a:tabLst>
              </a:pPr>
              <a:r>
                <a:rPr b="0" lang="es-ES" sz="600" spc="-1" strike="noStrike">
                  <a:solidFill>
                    <a:schemeClr val="lt1"/>
                  </a:solidFill>
                  <a:latin typeface="Arial"/>
                  <a:ea typeface="Arial"/>
                </a:rPr>
                <a:t>Definicion de requerimientos</a:t>
              </a:r>
              <a:endParaRPr b="0" lang="es-AR" sz="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" name="Google Shape;299;p15"/>
            <p:cNvSpPr/>
            <p:nvPr/>
          </p:nvSpPr>
          <p:spPr>
            <a:xfrm>
              <a:off x="9554760" y="132120"/>
              <a:ext cx="486000" cy="37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5" name="Google Shape;300;p15"/>
            <p:cNvSpPr/>
            <p:nvPr/>
          </p:nvSpPr>
          <p:spPr>
            <a:xfrm rot="5400000">
              <a:off x="9546480" y="1054440"/>
              <a:ext cx="396720" cy="451800"/>
            </a:xfrm>
            <a:prstGeom prst="bentUpArrow">
              <a:avLst>
                <a:gd name="adj1" fmla="val 32840"/>
                <a:gd name="adj2" fmla="val 25000"/>
                <a:gd name="adj3" fmla="val 35780"/>
              </a:avLst>
            </a:prstGeom>
            <a:solidFill>
              <a:srgbClr val="d1d4cd"/>
            </a:solidFill>
            <a:ln w="158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160" bIns="65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6" name="Google Shape;301;p15"/>
            <p:cNvSpPr/>
            <p:nvPr/>
          </p:nvSpPr>
          <p:spPr>
            <a:xfrm>
              <a:off x="9440640" y="613800"/>
              <a:ext cx="668520" cy="467640"/>
            </a:xfrm>
            <a:prstGeom prst="roundRect">
              <a:avLst>
                <a:gd name="adj" fmla="val 16670"/>
              </a:avLst>
            </a:prstGeom>
            <a:solidFill>
              <a:schemeClr val="accent3"/>
            </a:solidFill>
            <a:ln w="158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7" name="Google Shape;302;p15"/>
            <p:cNvSpPr/>
            <p:nvPr/>
          </p:nvSpPr>
          <p:spPr>
            <a:xfrm>
              <a:off x="9463320" y="636840"/>
              <a:ext cx="622800" cy="4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2680" rIns="22680" tIns="22680" bIns="22680" anchor="ctr">
              <a:noAutofit/>
            </a:bodyPr>
            <a:p>
              <a:pPr algn="ctr">
                <a:lnSpc>
                  <a:spcPct val="90000"/>
                </a:lnSpc>
                <a:tabLst>
                  <a:tab algn="l" pos="0"/>
                </a:tabLst>
              </a:pPr>
              <a:r>
                <a:rPr b="0" lang="es-ES" sz="600" spc="-1" strike="noStrike">
                  <a:solidFill>
                    <a:schemeClr val="lt1"/>
                  </a:solidFill>
                  <a:latin typeface="Arial"/>
                  <a:ea typeface="Arial"/>
                </a:rPr>
                <a:t>Diseño del sistema y del software</a:t>
              </a:r>
              <a:endParaRPr b="0" lang="es-AR" sz="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" name="Google Shape;303;p15"/>
            <p:cNvSpPr/>
            <p:nvPr/>
          </p:nvSpPr>
          <p:spPr>
            <a:xfrm>
              <a:off x="10109880" y="658440"/>
              <a:ext cx="486000" cy="37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9" name="Google Shape;304;p15"/>
            <p:cNvSpPr/>
            <p:nvPr/>
          </p:nvSpPr>
          <p:spPr>
            <a:xfrm rot="5400000">
              <a:off x="10101240" y="1580400"/>
              <a:ext cx="396720" cy="451800"/>
            </a:xfrm>
            <a:prstGeom prst="bentUpArrow">
              <a:avLst>
                <a:gd name="adj1" fmla="val 32840"/>
                <a:gd name="adj2" fmla="val 25000"/>
                <a:gd name="adj3" fmla="val 35780"/>
              </a:avLst>
            </a:prstGeom>
            <a:solidFill>
              <a:srgbClr val="d8dde1"/>
            </a:solidFill>
            <a:ln w="158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160" bIns="65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0" name="Google Shape;305;p15"/>
            <p:cNvSpPr/>
            <p:nvPr/>
          </p:nvSpPr>
          <p:spPr>
            <a:xfrm>
              <a:off x="9995400" y="1140120"/>
              <a:ext cx="668520" cy="467640"/>
            </a:xfrm>
            <a:prstGeom prst="roundRect">
              <a:avLst>
                <a:gd name="adj" fmla="val 16670"/>
              </a:avLst>
            </a:prstGeom>
            <a:solidFill>
              <a:schemeClr val="accent4"/>
            </a:solidFill>
            <a:ln w="158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1" name="Google Shape;306;p15"/>
            <p:cNvSpPr/>
            <p:nvPr/>
          </p:nvSpPr>
          <p:spPr>
            <a:xfrm>
              <a:off x="10018440" y="1162800"/>
              <a:ext cx="622800" cy="4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2680" rIns="22680" tIns="22680" bIns="22680" anchor="ctr">
              <a:noAutofit/>
            </a:bodyPr>
            <a:p>
              <a:pPr algn="ctr">
                <a:lnSpc>
                  <a:spcPct val="90000"/>
                </a:lnSpc>
                <a:tabLst>
                  <a:tab algn="l" pos="0"/>
                </a:tabLst>
              </a:pPr>
              <a:r>
                <a:rPr b="0" lang="es-ES" sz="600" spc="-1" strike="noStrike">
                  <a:solidFill>
                    <a:schemeClr val="lt1"/>
                  </a:solidFill>
                  <a:latin typeface="Arial"/>
                  <a:ea typeface="Arial"/>
                </a:rPr>
                <a:t>Implementacion y prueba de unidad</a:t>
              </a:r>
              <a:endParaRPr b="0" lang="es-AR" sz="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" name="Google Shape;307;p15"/>
            <p:cNvSpPr/>
            <p:nvPr/>
          </p:nvSpPr>
          <p:spPr>
            <a:xfrm>
              <a:off x="10664640" y="1184760"/>
              <a:ext cx="486000" cy="37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3" name="Google Shape;308;p15"/>
            <p:cNvSpPr/>
            <p:nvPr/>
          </p:nvSpPr>
          <p:spPr>
            <a:xfrm rot="5400000">
              <a:off x="10656000" y="2106720"/>
              <a:ext cx="396720" cy="451800"/>
            </a:xfrm>
            <a:prstGeom prst="bentUpArrow">
              <a:avLst>
                <a:gd name="adj1" fmla="val 32840"/>
                <a:gd name="adj2" fmla="val 25000"/>
                <a:gd name="adj3" fmla="val 35780"/>
              </a:avLst>
            </a:prstGeom>
            <a:solidFill>
              <a:srgbClr val="ede4e9"/>
            </a:solidFill>
            <a:ln w="158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5160" bIns="65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4" name="Google Shape;309;p15"/>
            <p:cNvSpPr/>
            <p:nvPr/>
          </p:nvSpPr>
          <p:spPr>
            <a:xfrm>
              <a:off x="10550160" y="1666080"/>
              <a:ext cx="668520" cy="467640"/>
            </a:xfrm>
            <a:prstGeom prst="roundRect">
              <a:avLst>
                <a:gd name="adj" fmla="val 16670"/>
              </a:avLst>
            </a:prstGeom>
            <a:solidFill>
              <a:schemeClr val="accent5"/>
            </a:solidFill>
            <a:ln w="158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5" name="Google Shape;310;p15"/>
            <p:cNvSpPr/>
            <p:nvPr/>
          </p:nvSpPr>
          <p:spPr>
            <a:xfrm>
              <a:off x="10573200" y="1689120"/>
              <a:ext cx="622800" cy="4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2680" rIns="22680" tIns="22680" bIns="22680" anchor="ctr">
              <a:noAutofit/>
            </a:bodyPr>
            <a:p>
              <a:pPr algn="ctr">
                <a:lnSpc>
                  <a:spcPct val="90000"/>
                </a:lnSpc>
                <a:tabLst>
                  <a:tab algn="l" pos="0"/>
                </a:tabLst>
              </a:pPr>
              <a:r>
                <a:rPr b="0" lang="es-ES" sz="600" spc="-1" strike="noStrike">
                  <a:solidFill>
                    <a:schemeClr val="lt1"/>
                  </a:solidFill>
                  <a:latin typeface="Arial"/>
                  <a:ea typeface="Arial"/>
                </a:rPr>
                <a:t>Integracion y prueba del sistema</a:t>
              </a:r>
              <a:endParaRPr b="0" lang="es-AR" sz="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" name="Google Shape;311;p15"/>
            <p:cNvSpPr/>
            <p:nvPr/>
          </p:nvSpPr>
          <p:spPr>
            <a:xfrm>
              <a:off x="11219400" y="1710720"/>
              <a:ext cx="486000" cy="37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7" name="Google Shape;312;p15"/>
            <p:cNvSpPr/>
            <p:nvPr/>
          </p:nvSpPr>
          <p:spPr>
            <a:xfrm>
              <a:off x="11104920" y="2192400"/>
              <a:ext cx="668520" cy="467640"/>
            </a:xfrm>
            <a:prstGeom prst="roundRect">
              <a:avLst>
                <a:gd name="adj" fmla="val 16670"/>
              </a:avLst>
            </a:prstGeom>
            <a:solidFill>
              <a:srgbClr val="855b5d"/>
            </a:solidFill>
            <a:ln w="1587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8" name="Google Shape;313;p15"/>
            <p:cNvSpPr/>
            <p:nvPr/>
          </p:nvSpPr>
          <p:spPr>
            <a:xfrm>
              <a:off x="11127960" y="2215080"/>
              <a:ext cx="622800" cy="42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2680" rIns="22680" tIns="22680" bIns="22680" anchor="ctr">
              <a:noAutofit/>
            </a:bodyPr>
            <a:p>
              <a:pPr algn="ctr">
                <a:lnSpc>
                  <a:spcPct val="90000"/>
                </a:lnSpc>
                <a:tabLst>
                  <a:tab algn="l" pos="0"/>
                </a:tabLst>
              </a:pPr>
              <a:r>
                <a:rPr b="0" lang="es-ES" sz="600" spc="-1" strike="noStrike">
                  <a:solidFill>
                    <a:schemeClr val="lt1"/>
                  </a:solidFill>
                  <a:latin typeface="Arial"/>
                  <a:ea typeface="Arial"/>
                </a:rPr>
                <a:t>Operacion y mantenimiento </a:t>
              </a:r>
              <a:endParaRPr b="0" lang="es-AR" sz="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8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" dur="2000"/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Num" idx="22"/>
          </p:nvPr>
        </p:nvSpPr>
        <p:spPr>
          <a:xfrm>
            <a:off x="9900360" y="6459840"/>
            <a:ext cx="13111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8DD290-4458-431B-A8E2-D2431C66B1FD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0" name="Imagen 5" descr="Dibujo de una persona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0" y="0"/>
            <a:ext cx="9521640" cy="6347520"/>
          </a:xfrm>
          <a:prstGeom prst="rect">
            <a:avLst/>
          </a:prstGeom>
          <a:ln w="0">
            <a:noFill/>
          </a:ln>
        </p:spPr>
      </p:pic>
      <p:sp>
        <p:nvSpPr>
          <p:cNvPr id="281" name="PlaceHolder 2"/>
          <p:cNvSpPr>
            <a:spLocks noGrp="1"/>
          </p:cNvSpPr>
          <p:nvPr>
            <p:ph type="title"/>
          </p:nvPr>
        </p:nvSpPr>
        <p:spPr>
          <a:xfrm>
            <a:off x="8433360" y="4232520"/>
            <a:ext cx="37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76000"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AR" sz="4800" spc="-1" strike="noStrike">
                <a:solidFill>
                  <a:srgbClr val="3f3f3f"/>
                </a:solidFill>
                <a:latin typeface="Calibri"/>
                <a:ea typeface="Calibri"/>
              </a:rPr>
              <a:t>Ingeniería de requerimientos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Ingeniería de Requerimientos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6832800" y="6459840"/>
            <a:ext cx="2434320" cy="3794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rmAutofit/>
          </a:bodyPr>
          <a:p>
            <a:pPr marL="68760" indent="-88920">
              <a:lnSpc>
                <a:spcPct val="90000"/>
              </a:lnSpc>
              <a:spcAft>
                <a:spcPts val="201"/>
              </a:spcAft>
              <a:buClr>
                <a:srgbClr val="549e39"/>
              </a:buClr>
              <a:buFont typeface="Calibri"/>
              <a:buChar char=" "/>
            </a:pPr>
            <a:r>
              <a:rPr b="0" lang="es-ES" sz="1400" spc="-1" strike="noStrike">
                <a:solidFill>
                  <a:srgbClr val="3f3f3f"/>
                </a:solidFill>
                <a:latin typeface="Calibri"/>
                <a:ea typeface="Calibri"/>
              </a:rPr>
              <a:t>Sommerville, Capítulo 2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3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F27AFF-76F3-4ABC-BE74-1BC17E2747C1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85" name="Google Shape;335;p18" descr=""/>
          <p:cNvPicPr/>
          <p:nvPr/>
        </p:nvPicPr>
        <p:blipFill>
          <a:blip r:embed="rId1"/>
          <a:srcRect l="881" t="3954" r="815" b="11659"/>
          <a:stretch/>
        </p:blipFill>
        <p:spPr>
          <a:xfrm>
            <a:off x="1946520" y="2517480"/>
            <a:ext cx="7953480" cy="3432960"/>
          </a:xfrm>
          <a:prstGeom prst="rect">
            <a:avLst/>
          </a:prstGeom>
          <a:ln w="0">
            <a:noFill/>
          </a:ln>
        </p:spPr>
      </p:pic>
      <p:sp>
        <p:nvSpPr>
          <p:cNvPr id="286" name="Google Shape;336;p18"/>
          <p:cNvSpPr/>
          <p:nvPr/>
        </p:nvSpPr>
        <p:spPr>
          <a:xfrm>
            <a:off x="8223120" y="2233440"/>
            <a:ext cx="2655720" cy="821160"/>
          </a:xfrm>
          <a:prstGeom prst="rect">
            <a:avLst/>
          </a:prstGeom>
          <a:solidFill>
            <a:schemeClr val="accent6"/>
          </a:solidFill>
          <a:ln w="25400">
            <a:solidFill>
              <a:srgbClr val="033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  <a:ea typeface="Calibri"/>
              </a:rPr>
              <a:t>Proceso secuencial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" dur="indefinite" restart="never" nodeType="tmRoot">
          <p:childTnLst>
            <p:seq>
              <p:cTn id="52" dur="indefinite" nodeType="mainSeq">
                <p:childTnLst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Ingeniería de Requerimientos</a:t>
            </a:r>
            <a:br>
              <a:rPr sz="4400"/>
            </a:b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rmAutofit/>
          </a:bodyPr>
          <a:p>
            <a:pPr marL="259200" indent="-259200">
              <a:lnSpc>
                <a:spcPct val="85000"/>
              </a:lnSpc>
              <a:buClr>
                <a:srgbClr val="549e39"/>
              </a:buClr>
              <a:buFont typeface="Noto Sans Symbols"/>
              <a:buChar char="▪"/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También es el proceso mediante el cual se intercambian diferentes </a:t>
            </a:r>
            <a:r>
              <a:rPr b="0" i="1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puntos de vista para recopilar y modelar lo que el sistema va a realiza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r. Este proceso utiliza una combinación de métodos, herramientas y actores, cuyo producto es un modelo del cual se genera un documento de requerimientos.”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59200" indent="-259200">
              <a:lnSpc>
                <a:spcPct val="85000"/>
              </a:lnSpc>
              <a:spcBef>
                <a:spcPts val="975"/>
              </a:spcBef>
              <a:buClr>
                <a:srgbClr val="549e39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“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Ingeniería de requerimientos” es un enfoque sistémico para recolectar, organizar y documentar los requerimientos del sistema; es también el proceso que establece y </a:t>
            </a:r>
            <a:r>
              <a:rPr b="0" i="1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mantiene acuerdos 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sobre los cambios de requerimientos, entre los clientes y el equipo del proyecto”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74DF5A-0645-49E5-A30D-DA597433CBB4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9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" dur="2000"/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" dur="2000"/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" dur="2000"/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20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94000"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Ingeniería de Requerimientos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Importancia 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300" spc="-1" strike="noStrike">
                <a:solidFill>
                  <a:srgbClr val="3f3f3f"/>
                </a:solidFill>
                <a:latin typeface="Calibri"/>
                <a:ea typeface="Calibri"/>
              </a:rPr>
              <a:t>Permite gestionar las necesidades del proyecto en forma estructurada</a:t>
            </a:r>
            <a:endParaRPr b="0" lang="es-AR" sz="23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300" spc="-1" strike="noStrike">
                <a:solidFill>
                  <a:srgbClr val="3f3f3f"/>
                </a:solidFill>
                <a:latin typeface="Calibri"/>
                <a:ea typeface="Calibri"/>
              </a:rPr>
              <a:t>Mejora la capacidad de predecir cronogramas de proyectos</a:t>
            </a:r>
            <a:endParaRPr b="0" lang="es-AR" sz="23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300" spc="-1" strike="noStrike">
                <a:solidFill>
                  <a:srgbClr val="3f3f3f"/>
                </a:solidFill>
                <a:latin typeface="Calibri"/>
                <a:ea typeface="Calibri"/>
              </a:rPr>
              <a:t>Disminuye los costos y retrasos del proyecto</a:t>
            </a:r>
            <a:endParaRPr b="0" lang="es-AR" sz="23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300" spc="-1" strike="noStrike">
                <a:solidFill>
                  <a:srgbClr val="3f3f3f"/>
                </a:solidFill>
                <a:latin typeface="Calibri"/>
                <a:ea typeface="Calibri"/>
              </a:rPr>
              <a:t>Mejora la calidad del software</a:t>
            </a:r>
            <a:endParaRPr b="0" lang="es-AR" sz="23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300" spc="-1" strike="noStrike">
                <a:solidFill>
                  <a:srgbClr val="3f3f3f"/>
                </a:solidFill>
                <a:latin typeface="Calibri"/>
                <a:ea typeface="Calibri"/>
              </a:rPr>
              <a:t>Mejora la comunicación entre equipos</a:t>
            </a:r>
            <a:endParaRPr b="0" lang="es-AR" sz="23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300" spc="-1" strike="noStrike">
                <a:solidFill>
                  <a:srgbClr val="3f3f3f"/>
                </a:solidFill>
                <a:latin typeface="Calibri"/>
                <a:ea typeface="Calibri"/>
              </a:rPr>
              <a:t>Evita rechazos de usuarios finales.</a:t>
            </a:r>
            <a:endParaRPr b="0" lang="es-AR" sz="23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25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76AFFE-D3DF-4974-A5B6-A872D01BB6FE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10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Ingeniería de Requerimientos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1001520" y="5951160"/>
            <a:ext cx="1035000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rmAutofit/>
          </a:bodyPr>
          <a:p>
            <a:pPr marL="74160" indent="-88560">
              <a:lnSpc>
                <a:spcPct val="90000"/>
              </a:lnSpc>
              <a:spcAft>
                <a:spcPts val="201"/>
              </a:spcAft>
              <a:buClr>
                <a:srgbClr val="549e39"/>
              </a:buClr>
              <a:buFont typeface="Calibri"/>
              <a:buChar char=" "/>
            </a:pPr>
            <a:r>
              <a:rPr b="0" lang="es-ES" sz="1400" spc="-1" strike="noStrike">
                <a:solidFill>
                  <a:srgbClr val="3f3f3f"/>
                </a:solidFill>
                <a:latin typeface="Calibri"/>
                <a:ea typeface="Calibri"/>
              </a:rPr>
              <a:t>Sommerville, Capítulo 4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26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5001AE-F9D5-4387-AB7D-395DB22D063F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11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6" name="Google Shape;344;p126" descr=""/>
          <p:cNvPicPr/>
          <p:nvPr/>
        </p:nvPicPr>
        <p:blipFill>
          <a:blip r:embed="rId1"/>
          <a:stretch/>
        </p:blipFill>
        <p:spPr>
          <a:xfrm>
            <a:off x="3140640" y="1810800"/>
            <a:ext cx="5566680" cy="4423680"/>
          </a:xfrm>
          <a:prstGeom prst="rect">
            <a:avLst/>
          </a:prstGeom>
          <a:ln w="0">
            <a:noFill/>
          </a:ln>
        </p:spPr>
      </p:pic>
      <p:sp>
        <p:nvSpPr>
          <p:cNvPr id="297" name="Google Shape;345;p126"/>
          <p:cNvSpPr/>
          <p:nvPr/>
        </p:nvSpPr>
        <p:spPr>
          <a:xfrm>
            <a:off x="8708040" y="2377440"/>
            <a:ext cx="2446920" cy="1614240"/>
          </a:xfrm>
          <a:prstGeom prst="rect">
            <a:avLst/>
          </a:prstGeom>
          <a:solidFill>
            <a:schemeClr val="accent6"/>
          </a:solidFill>
          <a:ln w="25400">
            <a:solidFill>
              <a:srgbClr val="033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-ES" sz="2000" spc="-1" strike="noStrike">
                <a:solidFill>
                  <a:srgbClr val="000000"/>
                </a:solidFill>
                <a:latin typeface="Calibri"/>
                <a:ea typeface="Calibri"/>
              </a:rPr>
              <a:t>En la práctica , es un proceso iterativo donde las actividades se entrelazan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" dur="indefinite" restart="never" nodeType="tmRoot">
          <p:childTnLst>
            <p:seq>
              <p:cTn id="75" dur="indefinite" nodeType="mainSeq">
                <p:childTnLst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F2C069-C2F0-4C95-B6CE-F011DE9DC6EF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11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title"/>
          </p:nvPr>
        </p:nvSpPr>
        <p:spPr>
          <a:xfrm>
            <a:off x="2133720" y="758880"/>
            <a:ext cx="10057680" cy="306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Estudio de Viabilidad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Google Shape;352;p19" descr=""/>
          <p:cNvPicPr/>
          <p:nvPr/>
        </p:nvPicPr>
        <p:blipFill>
          <a:blip r:embed="rId1"/>
          <a:srcRect l="881" t="3954" r="815" b="11659"/>
          <a:stretch/>
        </p:blipFill>
        <p:spPr>
          <a:xfrm>
            <a:off x="7148160" y="286560"/>
            <a:ext cx="4412520" cy="2297160"/>
          </a:xfrm>
          <a:prstGeom prst="rect">
            <a:avLst/>
          </a:prstGeom>
          <a:ln w="0">
            <a:noFill/>
          </a:ln>
        </p:spPr>
      </p:pic>
      <p:sp>
        <p:nvSpPr>
          <p:cNvPr id="301" name="Google Shape;353;p19"/>
          <p:cNvSpPr/>
          <p:nvPr/>
        </p:nvSpPr>
        <p:spPr>
          <a:xfrm>
            <a:off x="7257240" y="126720"/>
            <a:ext cx="788760" cy="791280"/>
          </a:xfrm>
          <a:prstGeom prst="ellipse">
            <a:avLst/>
          </a:prstGeom>
          <a:noFill/>
          <a:ln w="28575">
            <a:solidFill>
              <a:srgbClr val="8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000" spc="-1" strike="noStrike">
                <a:solidFill>
                  <a:srgbClr val="3f3f3f"/>
                </a:solidFill>
                <a:latin typeface="Calibri"/>
                <a:ea typeface="Calibri"/>
              </a:rPr>
              <a:t>Estudio de Viabilidad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1097280" y="175356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rmAutofit/>
          </a:bodyPr>
          <a:p>
            <a:pPr marL="68760" indent="-177840">
              <a:lnSpc>
                <a:spcPct val="90000"/>
              </a:lnSpc>
              <a:spcAft>
                <a:spcPts val="201"/>
              </a:spcAft>
              <a:buClr>
                <a:srgbClr val="549e39"/>
              </a:buClr>
              <a:buFont typeface="Calibri"/>
              <a:buChar char=" "/>
            </a:pP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Principalmente para sistemas nuevos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28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152998-BAB3-4787-A1AA-C8325E935DA4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13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/>
          </p:nvPr>
        </p:nvSpPr>
        <p:spPr>
          <a:xfrm>
            <a:off x="1936800" y="2214720"/>
            <a:ext cx="10254600" cy="402192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marL="68760" indent="-68760">
              <a:lnSpc>
                <a:spcPct val="90000"/>
              </a:lnSpc>
              <a:buClr>
                <a:srgbClr val="549e39"/>
              </a:buClr>
              <a:buFont typeface="Calibri"/>
              <a:buChar char=" 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A partir de una descripción resumida del sistema se elabora un informe que recomienda la conveniencia o no de realizar el proceso de desarrollo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-68760">
              <a:lnSpc>
                <a:spcPct val="90000"/>
              </a:lnSpc>
              <a:spcBef>
                <a:spcPts val="1400"/>
              </a:spcBef>
              <a:buClr>
                <a:srgbClr val="549e39"/>
              </a:buClr>
              <a:buFont typeface="Calibri"/>
              <a:buChar char=" 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Responde a las siguientes preguntas: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¿El sistema contribuye a los objetivos generales de la organización? (Si no contribuye, entonces no tiene un valor real en el negocio)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¿El sistema se puede implementar con la tecnología actual?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¿El sistema se puede implementar con las restricciones de costo y tiempo?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¿El sistema puede integrarse a otros que existen en la organización?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90000"/>
              </a:lnSpc>
              <a:spcBef>
                <a:spcPts val="15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0" dur="indefinite" restart="never" nodeType="tmRoot">
          <p:childTnLst>
            <p:seq>
              <p:cTn id="81" dur="indefinite" nodeType="mainSeq">
                <p:childTnLst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" dur="2000"/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000" spc="-1" strike="noStrike">
                <a:solidFill>
                  <a:srgbClr val="3f3f3f"/>
                </a:solidFill>
                <a:latin typeface="Calibri"/>
                <a:ea typeface="Calibri"/>
              </a:rPr>
              <a:t>Estudio de Viabilidad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rmAutofit/>
          </a:bodyPr>
          <a:p>
            <a:pPr marL="26064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lvl="1" marL="460800" indent="-457200" algn="just">
              <a:lnSpc>
                <a:spcPct val="90000"/>
              </a:lnSpc>
              <a:spcBef>
                <a:spcPts val="601"/>
              </a:spcBef>
              <a:buClr>
                <a:srgbClr val="549e39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800" spc="-1" strike="noStrike">
                <a:solidFill>
                  <a:srgbClr val="3f3f3f"/>
                </a:solidFill>
                <a:latin typeface="Calibri"/>
                <a:ea typeface="Calibri"/>
              </a:rPr>
              <a:t>Una vez que se ha recopilado toda la información necesaria para contestar las preguntas anteriores se debería hablar con las fuentes de información para responder nuevas preguntas y luego se redacta el informe, donde debería hacerse una recomendación sobre si debe continuar o no el desarrollo.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90000"/>
              </a:lnSpc>
              <a:spcBef>
                <a:spcPts val="15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29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FE342B-3FA2-456A-83D7-FB174931CF82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14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09" name="Google Shape;369;p21" descr="http://urbaniker.net/wp-content/uploads/2013/10/estudio-de-viabilidad1.jpg"/>
          <p:cNvPicPr/>
          <p:nvPr/>
        </p:nvPicPr>
        <p:blipFill>
          <a:blip r:embed="rId1"/>
          <a:stretch/>
        </p:blipFill>
        <p:spPr>
          <a:xfrm>
            <a:off x="8082720" y="4168440"/>
            <a:ext cx="3634920" cy="199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1154160" y="2369520"/>
            <a:ext cx="10057680" cy="356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8000" spc="-1" strike="noStrike">
                <a:solidFill>
                  <a:srgbClr val="262626"/>
                </a:solidFill>
                <a:latin typeface="Calibri"/>
                <a:ea typeface="Calibri"/>
              </a:rPr>
              <a:t>Validación de requerimientos</a:t>
            </a:r>
            <a:endParaRPr b="0" lang="es-AR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C3B737-329E-4825-84A9-4BEC78D49C3C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15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2" name="Google Shape;430;p29" descr="Papel reciclado"/>
          <p:cNvPicPr/>
          <p:nvPr/>
        </p:nvPicPr>
        <p:blipFill>
          <a:blip r:embed="rId1"/>
          <a:srcRect l="6007" t="5564" r="5574" b="6702"/>
          <a:stretch/>
        </p:blipFill>
        <p:spPr>
          <a:xfrm>
            <a:off x="6960240" y="332640"/>
            <a:ext cx="2496960" cy="2036160"/>
          </a:xfrm>
          <a:prstGeom prst="rect">
            <a:avLst/>
          </a:prstGeom>
          <a:ln w="0">
            <a:noFill/>
          </a:ln>
        </p:spPr>
      </p:pic>
      <p:sp>
        <p:nvSpPr>
          <p:cNvPr id="313" name="Google Shape;431;p29"/>
          <p:cNvSpPr/>
          <p:nvPr/>
        </p:nvSpPr>
        <p:spPr>
          <a:xfrm>
            <a:off x="8734320" y="758880"/>
            <a:ext cx="722520" cy="739080"/>
          </a:xfrm>
          <a:prstGeom prst="ellipse">
            <a:avLst/>
          </a:prstGeom>
          <a:noFill/>
          <a:ln w="19050">
            <a:solidFill>
              <a:srgbClr val="8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Validación de requerimientos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marL="68760" indent="-139680">
              <a:lnSpc>
                <a:spcPct val="90000"/>
              </a:lnSpc>
              <a:buClr>
                <a:srgbClr val="549e39"/>
              </a:buClr>
              <a:buFont typeface="Calibri"/>
              <a:buChar char=" 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Es el proceso de </a:t>
            </a:r>
            <a:r>
              <a:rPr b="0" i="1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certificar la corrección del modelo de requerimientos contra las intenciones del usuario</a:t>
            </a: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-139680">
              <a:lnSpc>
                <a:spcPct val="90000"/>
              </a:lnSpc>
              <a:spcBef>
                <a:spcPts val="1400"/>
              </a:spcBef>
              <a:buClr>
                <a:srgbClr val="549e39"/>
              </a:buClr>
              <a:buFont typeface="Calibri"/>
              <a:buChar char=" 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Trata de </a:t>
            </a:r>
            <a:r>
              <a:rPr b="0" i="1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mostrar que los requerimientos definidos son los que estipula el sistema. Se describe el ambiente en el que debe operar el sistema.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-139680">
              <a:lnSpc>
                <a:spcPct val="90000"/>
              </a:lnSpc>
              <a:spcBef>
                <a:spcPts val="1400"/>
              </a:spcBef>
              <a:spcAft>
                <a:spcPts val="201"/>
              </a:spcAft>
              <a:buClr>
                <a:srgbClr val="549e39"/>
              </a:buClr>
              <a:buFont typeface="Calibri"/>
              <a:buChar char=" "/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Es importante, </a:t>
            </a:r>
            <a:r>
              <a:rPr b="0" i="1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porque los errores en los requerimientos pueden conducir a grandes costos si se descubren más tarde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31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D6E612-80B4-4F8D-836F-721D356C5A2E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/>
          </p:nvPr>
        </p:nvSpPr>
        <p:spPr>
          <a:xfrm>
            <a:off x="1310400" y="1968480"/>
            <a:ext cx="8994600" cy="1623960"/>
          </a:xfrm>
          <a:prstGeom prst="rect">
            <a:avLst/>
          </a:prstGeom>
          <a:solidFill>
            <a:srgbClr val="c3c0c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26064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Validación: </a:t>
            </a:r>
            <a:r>
              <a:rPr b="0" lang="es-ES" sz="2200" spc="-1" strike="noStrike">
                <a:solidFill>
                  <a:srgbClr val="3f3f3f"/>
                </a:solidFill>
                <a:latin typeface="Calibri"/>
                <a:ea typeface="Calibri"/>
              </a:rPr>
              <a:t>Al final del desarrollo evaluar el software para asegurar que el software cumple los requerimientos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1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Verificación:</a:t>
            </a:r>
            <a:r>
              <a:rPr b="0" lang="es-ES" sz="2400" spc="-1" strike="noStrike">
                <a:solidFill>
                  <a:srgbClr val="3f3f3f"/>
                </a:solidFill>
                <a:latin typeface="Calibri"/>
                <a:ea typeface="Calibri"/>
              </a:rPr>
              <a:t> El software cumple los requerimientos correctamente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sldNum" idx="32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A8DA48-AC57-4DB4-9DB1-9F3D925AE3D8}" type="slidenum">
              <a:rPr b="0" lang="es-E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Google Shape;445;p31"/>
          <p:cNvSpPr/>
          <p:nvPr/>
        </p:nvSpPr>
        <p:spPr>
          <a:xfrm>
            <a:off x="1310400" y="523800"/>
            <a:ext cx="7632000" cy="12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85000"/>
              </a:lnSpc>
              <a:tabLst>
                <a:tab algn="l" pos="0"/>
              </a:tabLst>
            </a:pPr>
            <a:r>
              <a:rPr b="1" lang="es-ES" sz="4400" spc="-1" strike="noStrike">
                <a:solidFill>
                  <a:schemeClr val="accent1"/>
                </a:solidFill>
                <a:latin typeface="Calibri"/>
                <a:ea typeface="Calibri"/>
              </a:rPr>
              <a:t>Validación de  requerimientos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446;p31"/>
          <p:cNvSpPr/>
          <p:nvPr/>
        </p:nvSpPr>
        <p:spPr>
          <a:xfrm>
            <a:off x="1443240" y="4401360"/>
            <a:ext cx="1018332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68760" indent="-68760">
              <a:lnSpc>
                <a:spcPct val="100000"/>
              </a:lnSpc>
              <a:tabLst>
                <a:tab algn="l" pos="0"/>
              </a:tabLst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Calibri"/>
              </a:rPr>
              <a:t>Sobre estas definiciones: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-257040">
              <a:lnSpc>
                <a:spcPct val="100000"/>
              </a:lnSpc>
              <a:tabLst>
                <a:tab algn="l" pos="0"/>
              </a:tabLst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Calibri"/>
              </a:rPr>
              <a:t>La validación sólo se puede hacer con la activa participación del usuario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-257040">
              <a:lnSpc>
                <a:spcPct val="100000"/>
              </a:lnSpc>
              <a:tabLst>
                <a:tab algn="l" pos="0"/>
              </a:tabLst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Calibri"/>
              </a:rPr>
              <a:t>Validación: hacer el software correcto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-257040">
              <a:lnSpc>
                <a:spcPct val="100000"/>
              </a:lnSpc>
              <a:tabLst>
                <a:tab algn="l" pos="0"/>
              </a:tabLst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  <a:ea typeface="Calibri"/>
              </a:rPr>
              <a:t>Verificación: hacer el software correctamente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447;p31"/>
          <p:cNvSpPr/>
          <p:nvPr/>
        </p:nvSpPr>
        <p:spPr>
          <a:xfrm>
            <a:off x="9385920" y="1077480"/>
            <a:ext cx="2330280" cy="612000"/>
          </a:xfrm>
          <a:prstGeom prst="wedgeRoundRectCallout">
            <a:avLst>
              <a:gd name="adj1" fmla="val -90253"/>
              <a:gd name="adj2" fmla="val 96155"/>
              <a:gd name="adj3" fmla="val 16667"/>
            </a:avLst>
          </a:prstGeom>
          <a:solidFill>
            <a:srgbClr val="f67ba5"/>
          </a:solidFill>
          <a:ln w="15875">
            <a:solidFill>
              <a:srgbClr val="4c48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Arial"/>
                <a:ea typeface="Arial"/>
              </a:rPr>
              <a:t>Definición de la IEEE</a:t>
            </a:r>
            <a:endParaRPr b="0" lang="es-A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15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92000"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800" spc="-1" strike="noStrike">
                <a:solidFill>
                  <a:srgbClr val="3f3f3f"/>
                </a:solidFill>
                <a:latin typeface="Calibri"/>
                <a:ea typeface="Calibri"/>
              </a:rPr>
              <a:t>Validación de requerimientos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marL="114480" indent="-127080">
              <a:lnSpc>
                <a:spcPct val="90000"/>
              </a:lnSpc>
              <a:buClr>
                <a:srgbClr val="549e39"/>
              </a:buClr>
              <a:buFont typeface="Calibri"/>
              <a:buChar char=" "/>
            </a:pPr>
            <a:r>
              <a:rPr b="1" i="1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¿Es suficiente validar después del desarrollo del software?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La evidencia estadística dice que NO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Cuanto más tarde se detecta, más cuesta corregir (Boehm)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Bola de nieve de defectos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Validar en la fase de especificación de requerimientos puede ayudar a evitar costosas correcciones después del desarrollo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marL="68760" indent="-127080">
              <a:lnSpc>
                <a:spcPct val="90000"/>
              </a:lnSpc>
              <a:spcBef>
                <a:spcPts val="1599"/>
              </a:spcBef>
              <a:buClr>
                <a:srgbClr val="549e39"/>
              </a:buClr>
              <a:buFont typeface="Calibri"/>
              <a:buChar char=" "/>
            </a:pPr>
            <a:r>
              <a:rPr b="1" i="1" lang="es-ES" sz="2000" spc="-1" strike="noStrike">
                <a:solidFill>
                  <a:schemeClr val="dk1"/>
                </a:solidFill>
                <a:latin typeface="Calibri"/>
                <a:ea typeface="Calibri"/>
              </a:rPr>
              <a:t>¿Contra qué se verifican los requerimientos?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No existen “los requerimientos de los requerimientos”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No puede probarse formalmente que un Modelo de Requerimientos es correcto. Puede alcanzarse una convicción de que la solución especificada en el modelo de requerimientos es el correcto para el usuario.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90000"/>
              </a:lnSpc>
              <a:spcBef>
                <a:spcPts val="15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B3E46B-EC76-426F-9A67-DE7E6879133B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Validación de requerimientos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rmAutofit/>
          </a:bodyPr>
          <a:p>
            <a:pPr marL="68760" indent="-177840">
              <a:lnSpc>
                <a:spcPct val="90000"/>
              </a:lnSpc>
              <a:buClr>
                <a:srgbClr val="549e39"/>
              </a:buClr>
              <a:buFont typeface="Calibri"/>
              <a:buChar char=" "/>
            </a:pPr>
            <a:r>
              <a:rPr b="0" i="1" lang="es-ES" sz="2800" spc="-1" strike="noStrike">
                <a:solidFill>
                  <a:schemeClr val="dk1"/>
                </a:solidFill>
                <a:latin typeface="Calibri"/>
                <a:ea typeface="Calibri"/>
              </a:rPr>
              <a:t>Comprenden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Verificaciones de validez (para todos los usuarios)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Verificaciones de consistencia (sin contradicciones)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Verificaciones de completitud (todos los requerimientos)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Verificaciones de realismo (se pueden implementar)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</a:pPr>
            <a:r>
              <a:rPr b="0" lang="es-ES" sz="2200" spc="-1" strike="noStrike">
                <a:solidFill>
                  <a:schemeClr val="dk1"/>
                </a:solidFill>
                <a:latin typeface="Calibri"/>
                <a:ea typeface="Calibri"/>
              </a:rPr>
              <a:t>Verificabilidad (se puede diseñar conjunto de pruebas)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90000"/>
              </a:lnSpc>
              <a:spcBef>
                <a:spcPts val="15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34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0859C5-985E-43B9-A75E-485AA74C49C3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s-ES" sz="4400" spc="-1" strike="noStrike">
                <a:solidFill>
                  <a:srgbClr val="3f3f3f"/>
                </a:solidFill>
                <a:latin typeface="Calibri"/>
                <a:ea typeface="Calibri"/>
              </a:rPr>
              <a:t>Técnicas de validación </a:t>
            </a:r>
            <a:br>
              <a:rPr sz="4400"/>
            </a:b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1154160" y="1818720"/>
            <a:ext cx="100576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marL="260640" indent="0">
              <a:lnSpc>
                <a:spcPct val="9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Pueden ser manuales o automatizadas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460800" indent="-4572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Revisiones de requerimientos (formales o informales)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594360" indent="-411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Calibri"/>
              <a:buChar char="◦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Informales : Los desarrolladores deben tratar los requerimientos con tantos stakeholders como sea posible.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594360" indent="-411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Calibri"/>
              <a:buChar char="◦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Formal : El equipo de desarrollo debe conducir al cliente, explicándole las implicaciones de cada requerimiento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Antes de una revisión formal, es conveniente realizar una revisión informal.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Construcción de prototipos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/>
                </a:solidFill>
                <a:latin typeface="Calibri"/>
                <a:ea typeface="Calibri"/>
              </a:rPr>
              <a:t>Generación de casos de prueba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90000"/>
              </a:lnSpc>
              <a:spcBef>
                <a:spcPts val="15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35"/>
          </p:nvPr>
        </p:nvSpPr>
        <p:spPr>
          <a:xfrm>
            <a:off x="9900360" y="6459840"/>
            <a:ext cx="1311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96DD7C-B675-4BA1-BB67-DB631A2C49CF}" type="slidenum">
              <a:rPr b="0" lang="es-E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/>
          </p:nvPr>
        </p:nvSpPr>
        <p:spPr>
          <a:xfrm>
            <a:off x="882720" y="4717080"/>
            <a:ext cx="9228600" cy="53280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Técnicas de Especificación de Requerimientos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- Casos de Uso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767520" y="404640"/>
            <a:ext cx="835236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- Definición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23520" y="1846440"/>
            <a:ext cx="1036836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lvl="1" marL="260640" indent="-257040" algn="just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Proceso de modelado de las “funcionalidades” del sistema en término de los eventos que interactúan entre los usuarios y el sistema.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 algn="just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Tiene sus orígenes en el modelado orientado a objetos (Jacobson 1992) pero su eficiencia en modelado de requerimientos hizo que se independice de la técnica de diseño utilizada, siendo aplicable a cualquier metodología de desarrollo.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260640" indent="0" algn="just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El uso de CU facilita y alienta la participación de los usuarios.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/>
          </p:nvPr>
        </p:nvSpPr>
        <p:spPr>
          <a:xfrm>
            <a:off x="7024680" y="6453360"/>
            <a:ext cx="41904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 type="sldNum" idx="36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425C7B-F577-4795-B4B7-BCB2659C2343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7" dur="indefinite" restart="never" nodeType="tmRoot">
          <p:childTnLst>
            <p:seq>
              <p:cTn id="88" dur="indefinite" nodeType="mainSeq">
                <p:childTnLst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" dur="500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" dur="500"/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911520" y="332640"/>
            <a:ext cx="813636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- Beneficios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839520" y="1772640"/>
            <a:ext cx="1058436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lvl="2" marL="411480" indent="-411480">
              <a:lnSpc>
                <a:spcPct val="85000"/>
              </a:lnSpc>
              <a:buClr>
                <a:srgbClr val="0989b1"/>
              </a:buClr>
              <a:buFont typeface="Noto Sans Symbols"/>
              <a:buChar char="✔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Herramienta para capturar requerimientos funcionales.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0989b1"/>
              </a:buClr>
              <a:buFont typeface="Noto Sans Symbols"/>
              <a:buChar char="✔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Descompone el alcance del sistema en piezas más manejables.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0989b1"/>
              </a:buClr>
              <a:buFont typeface="Noto Sans Symbols"/>
              <a:buChar char="✔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Medio de comunicación con los usuarios.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450720" indent="-450720">
              <a:lnSpc>
                <a:spcPct val="85000"/>
              </a:lnSpc>
              <a:spcBef>
                <a:spcPts val="451"/>
              </a:spcBef>
              <a:buClr>
                <a:srgbClr val="0989b1"/>
              </a:buClr>
              <a:buFont typeface="Noto Sans Symbols"/>
              <a:buChar char="✔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Utiliza lenguaje común y fácil de entender por las partes.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355680" indent="-355680">
              <a:lnSpc>
                <a:spcPct val="85000"/>
              </a:lnSpc>
              <a:spcBef>
                <a:spcPts val="451"/>
              </a:spcBef>
              <a:buClr>
                <a:srgbClr val="0989b1"/>
              </a:buClr>
              <a:buFont typeface="Noto Sans Symbols"/>
              <a:buChar char="✔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Permite estimar el alcance del proyecto y el esfuerzo a realizar.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0989b1"/>
              </a:buClr>
              <a:buFont typeface="Noto Sans Symbols"/>
              <a:buChar char="✔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Define una línea base para la definición de los planes de prueba.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0989b1"/>
              </a:buClr>
              <a:buFont typeface="Noto Sans Symbols"/>
              <a:buChar char="✔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Define una línea base para toda la documentación del sistema.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0989b1"/>
              </a:buClr>
              <a:buFont typeface="Noto Sans Symbols"/>
              <a:buChar char="✔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Proporciona una herramienta para el seguimiento de los requisitos.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37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CBDB02-1B62-4F29-9085-121DE2FD7106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Componentes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550080" y="1989000"/>
            <a:ext cx="754308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  <a:tabLst>
                <a:tab algn="l" pos="0"/>
              </a:tabLst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Diagrama de Casos de Uso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Ilustra las interacciones entre el sistema y los actores.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  <a:tabLst>
                <a:tab algn="l" pos="0"/>
              </a:tabLst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Escenarios (narración del CU)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Descripción de la interacción entre el actor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    </a:t>
            </a: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y el sistema para realizar la funcionalidad.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/>
          </p:nvPr>
        </p:nvSpPr>
        <p:spPr>
          <a:xfrm>
            <a:off x="7170480" y="6500880"/>
            <a:ext cx="419040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sldNum" idx="38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750FA7-B813-4AD9-AEAD-CC6113B3212C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43" name="Google Shape;224;p5" descr=""/>
          <p:cNvPicPr/>
          <p:nvPr/>
        </p:nvPicPr>
        <p:blipFill>
          <a:blip r:embed="rId1"/>
          <a:stretch/>
        </p:blipFill>
        <p:spPr>
          <a:xfrm>
            <a:off x="7680240" y="1196640"/>
            <a:ext cx="2451960" cy="2375640"/>
          </a:xfrm>
          <a:prstGeom prst="rect">
            <a:avLst/>
          </a:prstGeom>
          <a:ln w="0">
            <a:noFill/>
          </a:ln>
        </p:spPr>
      </p:pic>
      <p:pic>
        <p:nvPicPr>
          <p:cNvPr id="344" name="Google Shape;225;p5" descr=""/>
          <p:cNvPicPr/>
          <p:nvPr/>
        </p:nvPicPr>
        <p:blipFill>
          <a:blip r:embed="rId2"/>
          <a:stretch/>
        </p:blipFill>
        <p:spPr>
          <a:xfrm>
            <a:off x="9618120" y="2805480"/>
            <a:ext cx="2023200" cy="292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Diagrama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1127520" y="1917000"/>
            <a:ext cx="943236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lvl="1" marL="260640" indent="-257040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Diagrama de Casos de Uso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Ejemplo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1740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/>
          </p:nvPr>
        </p:nvSpPr>
        <p:spPr>
          <a:xfrm>
            <a:off x="7062480" y="6464160"/>
            <a:ext cx="41904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sldNum" idx="39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AEE898-C623-449E-B3D9-5535596210BC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49" name="Google Shape;238;p6" descr=""/>
          <p:cNvPicPr/>
          <p:nvPr/>
        </p:nvPicPr>
        <p:blipFill>
          <a:blip r:embed="rId1"/>
          <a:stretch/>
        </p:blipFill>
        <p:spPr>
          <a:xfrm>
            <a:off x="5087880" y="1857240"/>
            <a:ext cx="4069440" cy="426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551520" y="40464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 - Diagrama 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4007880" y="1917000"/>
            <a:ext cx="590400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lvl="2" marL="411480" indent="-411480" algn="just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Caso de Uso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Representa un objetivo (funcionalidad) individual del sistema y describe la secuencia de actividades y de interacciones para alcanzarlo.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Para que el CU sea considerado un requerimiento debe estar acompañado de su respectivo escenario.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 algn="just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17400" indent="0" algn="just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 algn="just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6960240" y="6500880"/>
            <a:ext cx="4190400" cy="35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 type="sldNum" idx="40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D1DE20-AEB1-4664-AF4D-F1C859D4D162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Google Shape;251;p7"/>
          <p:cNvSpPr/>
          <p:nvPr/>
        </p:nvSpPr>
        <p:spPr>
          <a:xfrm>
            <a:off x="839520" y="2493000"/>
            <a:ext cx="2591640" cy="194364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8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chemeClr val="lt1"/>
                </a:solidFill>
                <a:latin typeface="Calibri"/>
                <a:ea typeface="Calibri"/>
              </a:rPr>
              <a:t>Símbolo de Caso de Uso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Diagrama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4511880" y="1845000"/>
            <a:ext cx="496800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6000"/>
          </a:bodyPr>
          <a:p>
            <a:pPr lvl="2" marL="394560" indent="-394560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Actores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592200" indent="-592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Un actor inicia una actividad (CU) en el sistema.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592200" indent="-592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Representa un papel desempeñado por un usuario que interactúa (rol).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592200" indent="-5922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Puede ser una persona, sistema externo o dispositivo externo que dispare un evento (sensor, reloj).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59220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39456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6924240" y="6446520"/>
            <a:ext cx="41904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 type="sldNum" idx="41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312901-1413-4ACC-86A1-F9DA203D6238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9" name="Google Shape;264;p8" descr=""/>
          <p:cNvPicPr/>
          <p:nvPr/>
        </p:nvPicPr>
        <p:blipFill>
          <a:blip r:embed="rId1"/>
          <a:stretch/>
        </p:blipFill>
        <p:spPr>
          <a:xfrm>
            <a:off x="983520" y="1989000"/>
            <a:ext cx="3095640" cy="387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1158120" y="47520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Diagrama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1158120" y="2017440"/>
            <a:ext cx="754308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lvl="2" marL="411480" indent="-411480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Relaciones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Asociaciones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Extensiones (Extends)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Uso o Inclusión  (Uses)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Herencia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1740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6958080" y="6469920"/>
            <a:ext cx="41904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 type="sldNum" idx="42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61F80F-39F4-4D80-B42D-44357CD3D515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- Diagrama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623520" y="2136960"/>
            <a:ext cx="5760000" cy="201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lvl="2" marL="411480" indent="-411480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Asociaciones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Relación entre un actor y un CU en el que interactúan entre sí.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43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549DF7-5135-4511-A12A-41D92ADF8C48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Google Shape;288;p10"/>
          <p:cNvSpPr/>
          <p:nvPr/>
        </p:nvSpPr>
        <p:spPr>
          <a:xfrm>
            <a:off x="7680240" y="4763160"/>
            <a:ext cx="3920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(1) El Actor inicia el caso de uso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wentieth Century"/>
                <a:ea typeface="Twentieth Century"/>
              </a:rPr>
              <a:t>(2) El caso de uso interacciona con actor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8" name="Google Shape;289;p10" descr=""/>
          <p:cNvPicPr/>
          <p:nvPr/>
        </p:nvPicPr>
        <p:blipFill>
          <a:blip r:embed="rId1"/>
          <a:stretch/>
        </p:blipFill>
        <p:spPr>
          <a:xfrm>
            <a:off x="6383880" y="1845000"/>
            <a:ext cx="5476320" cy="2599560"/>
          </a:xfrm>
          <a:prstGeom prst="rect">
            <a:avLst/>
          </a:prstGeom>
          <a:ln w="0">
            <a:noFill/>
          </a:ln>
        </p:spPr>
      </p:pic>
      <p:sp>
        <p:nvSpPr>
          <p:cNvPr id="369" name="PlaceHolder 4"/>
          <p:cNvSpPr>
            <a:spLocks noGrp="1"/>
          </p:cNvSpPr>
          <p:nvPr>
            <p:ph/>
          </p:nvPr>
        </p:nvSpPr>
        <p:spPr>
          <a:xfrm>
            <a:off x="6958080" y="6469920"/>
            <a:ext cx="41904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- Diagrama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5472000" y="2096640"/>
            <a:ext cx="6408000" cy="366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lvl="2" marL="411480" indent="-411480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1" lang="en-US" sz="2800" spc="-1" strike="noStrike">
                <a:solidFill>
                  <a:srgbClr val="3f3f3f"/>
                </a:solidFill>
                <a:latin typeface="Calibri"/>
                <a:ea typeface="Calibri"/>
              </a:rPr>
              <a:t>Extensiones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800" spc="-1" strike="noStrike">
                <a:solidFill>
                  <a:srgbClr val="3f3f3f"/>
                </a:solidFill>
                <a:latin typeface="Calibri"/>
                <a:ea typeface="Calibri"/>
              </a:rPr>
              <a:t>Un CU extiende la funcionalidad de otro CU.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800" spc="-1" strike="noStrike">
                <a:solidFill>
                  <a:srgbClr val="3f3f3f"/>
                </a:solidFill>
                <a:latin typeface="Calibri"/>
                <a:ea typeface="Calibri"/>
              </a:rPr>
              <a:t>Un CU puede tener muchos CU extensiones.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800" spc="-1" strike="noStrike">
                <a:solidFill>
                  <a:srgbClr val="3f3f3f"/>
                </a:solidFill>
                <a:latin typeface="Calibri"/>
                <a:ea typeface="Calibri"/>
              </a:rPr>
              <a:t>Los CU extensiones sólo son iniciados por un CU.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44"/>
          </p:nvPr>
        </p:nvSpPr>
        <p:spPr>
          <a:xfrm>
            <a:off x="9134640" y="328356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5A7988-B04C-4E52-86CA-16125041A643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3" name="Google Shape;302;p11" descr=""/>
          <p:cNvPicPr/>
          <p:nvPr/>
        </p:nvPicPr>
        <p:blipFill>
          <a:blip r:embed="rId1"/>
          <a:stretch/>
        </p:blipFill>
        <p:spPr>
          <a:xfrm>
            <a:off x="623520" y="2205000"/>
            <a:ext cx="5064120" cy="3383640"/>
          </a:xfrm>
          <a:prstGeom prst="rect">
            <a:avLst/>
          </a:prstGeom>
          <a:ln w="0">
            <a:noFill/>
          </a:ln>
        </p:spPr>
      </p:pic>
      <p:sp>
        <p:nvSpPr>
          <p:cNvPr id="374" name="PlaceHolder 4"/>
          <p:cNvSpPr>
            <a:spLocks noGrp="1"/>
          </p:cNvSpPr>
          <p:nvPr>
            <p:ph/>
          </p:nvPr>
        </p:nvSpPr>
        <p:spPr>
          <a:xfrm>
            <a:off x="6958080" y="6469920"/>
            <a:ext cx="41904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Diagrama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191520" y="1892160"/>
            <a:ext cx="5616000" cy="259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lvl="2" marL="411480" indent="-411480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Uso o inclusión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Reduce la redundancia entre dos o más CU al combinar los pasos comunes de los CU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45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3C435E-70F7-45DA-A722-B2A5A952FB0E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78" name="Google Shape;315;p12" descr=""/>
          <p:cNvPicPr/>
          <p:nvPr/>
        </p:nvPicPr>
        <p:blipFill>
          <a:blip r:embed="rId1"/>
          <a:stretch/>
        </p:blipFill>
        <p:spPr>
          <a:xfrm>
            <a:off x="7392240" y="1989000"/>
            <a:ext cx="3990600" cy="3671640"/>
          </a:xfrm>
          <a:prstGeom prst="rect">
            <a:avLst/>
          </a:prstGeom>
          <a:ln w="0">
            <a:noFill/>
          </a:ln>
        </p:spPr>
      </p:pic>
      <p:sp>
        <p:nvSpPr>
          <p:cNvPr id="379" name="Google Shape;316;p12"/>
          <p:cNvSpPr/>
          <p:nvPr/>
        </p:nvSpPr>
        <p:spPr>
          <a:xfrm>
            <a:off x="6958080" y="6469920"/>
            <a:ext cx="4190400" cy="3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68760" indent="-68760">
              <a:lnSpc>
                <a:spcPct val="85000"/>
              </a:lnSpc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-68760">
              <a:lnSpc>
                <a:spcPct val="85000"/>
              </a:lnSpc>
              <a:spcBef>
                <a:spcPts val="975"/>
              </a:spcBef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0" name="Google Shape;315;p 1" descr=""/>
          <p:cNvPicPr/>
          <p:nvPr/>
        </p:nvPicPr>
        <p:blipFill>
          <a:blip r:embed="rId2"/>
          <a:stretch/>
        </p:blipFill>
        <p:spPr>
          <a:xfrm>
            <a:off x="7392600" y="1989360"/>
            <a:ext cx="3990600" cy="36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- Diagrama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6672240" y="2060640"/>
            <a:ext cx="482364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lvl="2" marL="411480" indent="-411480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Herencia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Relación entre actores donde un actor hereda las funcionalidades de uno o varios actores.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46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047559-5B96-4EF6-91B0-E063FB347FB1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84" name="Google Shape;328;p14" descr=""/>
          <p:cNvPicPr/>
          <p:nvPr/>
        </p:nvPicPr>
        <p:blipFill>
          <a:blip r:embed="rId1"/>
          <a:stretch/>
        </p:blipFill>
        <p:spPr>
          <a:xfrm>
            <a:off x="407520" y="1917000"/>
            <a:ext cx="6006960" cy="4021920"/>
          </a:xfrm>
          <a:prstGeom prst="rect">
            <a:avLst/>
          </a:prstGeom>
          <a:ln w="0">
            <a:noFill/>
          </a:ln>
        </p:spPr>
      </p:pic>
      <p:sp>
        <p:nvSpPr>
          <p:cNvPr id="385" name="PlaceHolder 4"/>
          <p:cNvSpPr>
            <a:spLocks noGrp="1"/>
          </p:cNvSpPr>
          <p:nvPr>
            <p:ph/>
          </p:nvPr>
        </p:nvSpPr>
        <p:spPr>
          <a:xfrm>
            <a:off x="6958080" y="6469920"/>
            <a:ext cx="41904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- Escenarios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1631520" y="2133000"/>
            <a:ext cx="754308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lvl="2" marL="411480" indent="-411480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En el escenario se describen: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4" marL="13258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La interacción del escenario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140976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4" marL="13258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Eventos alternativos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1740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47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C97866-D7CC-44E0-91CE-999C6385999F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/>
          </p:nvPr>
        </p:nvSpPr>
        <p:spPr>
          <a:xfrm>
            <a:off x="6958080" y="6469920"/>
            <a:ext cx="41904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879840" y="-803880"/>
            <a:ext cx="9726480" cy="279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 -  Ejemplo de escenario</a:t>
            </a:r>
            <a:endParaRPr b="0" lang="es-A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 type="ftr" idx="48"/>
          </p:nvPr>
        </p:nvSpPr>
        <p:spPr>
          <a:xfrm>
            <a:off x="6671880" y="6308640"/>
            <a:ext cx="4704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Ingeniería de Software I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49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97655C-CB8C-4CE0-8E83-0E742FB8B6F1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393" name="Google Shape;349;p16"/>
          <p:cNvGraphicFramePr/>
          <p:nvPr/>
        </p:nvGraphicFramePr>
        <p:xfrm>
          <a:off x="1457640" y="2129760"/>
          <a:ext cx="8126640" cy="3113280"/>
        </p:xfrm>
        <a:graphic>
          <a:graphicData uri="http://schemas.openxmlformats.org/drawingml/2006/table">
            <a:tbl>
              <a:tblPr/>
              <a:tblGrid>
                <a:gridCol w="2709000"/>
                <a:gridCol w="2709000"/>
                <a:gridCol w="2709000"/>
              </a:tblGrid>
              <a:tr h="517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9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Nombre del caso de uso</a:t>
                      </a:r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9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Descripción</a:t>
                      </a:r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9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Actores</a:t>
                      </a:r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9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Precondiciones</a:t>
                      </a:r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 rowSpan="2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9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Curso Normal</a:t>
                      </a:r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9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Acción del Actor</a:t>
                      </a:r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9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Acciones del Sistema</a:t>
                      </a:r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708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9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Curso Alterno</a:t>
                      </a:r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9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Postcondición</a:t>
                      </a:r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endParaRPr b="0" lang="es-AR" sz="139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394" name="Google Shape;350;p16"/>
          <p:cNvSpPr/>
          <p:nvPr/>
        </p:nvSpPr>
        <p:spPr>
          <a:xfrm>
            <a:off x="4320000" y="486000"/>
            <a:ext cx="2249640" cy="954000"/>
          </a:xfrm>
          <a:custGeom>
            <a:avLst/>
            <a:gdLst>
              <a:gd name="textAreaLeft" fmla="*/ 0 w 2249640"/>
              <a:gd name="textAreaRight" fmla="*/ 2250360 w 2249640"/>
              <a:gd name="textAreaTop" fmla="*/ 0 h 954000"/>
              <a:gd name="textAreaBottom" fmla="*/ 954720 h 95400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47753" y="112878"/>
                </a:moveTo>
                <a:lnTo>
                  <a:pt x="22307" y="247390"/>
                </a:lnTo>
              </a:path>
            </a:pathLst>
          </a:custGeom>
          <a:solidFill>
            <a:srgbClr val="00b0f0"/>
          </a:solidFill>
          <a:ln w="25400">
            <a:solidFill>
              <a:srgbClr val="00b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Calibri"/>
              </a:rPr>
              <a:t>Nombre del  CU, debe comenzar con un verbo y representar la meta del CU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351;p16"/>
          <p:cNvSpPr/>
          <p:nvPr/>
        </p:nvSpPr>
        <p:spPr>
          <a:xfrm>
            <a:off x="226440" y="2184840"/>
            <a:ext cx="1943640" cy="683640"/>
          </a:xfrm>
          <a:custGeom>
            <a:avLst/>
            <a:gdLst>
              <a:gd name="textAreaLeft" fmla="*/ 0 w 1943640"/>
              <a:gd name="textAreaRight" fmla="*/ 1944360 w 1943640"/>
              <a:gd name="textAreaTop" fmla="*/ 0 h 683640"/>
              <a:gd name="textAreaBottom" fmla="*/ 684360 h 68364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122848" y="49622"/>
                </a:moveTo>
                <a:lnTo>
                  <a:pt x="149292" y="193146"/>
                </a:lnTo>
              </a:path>
            </a:pathLst>
          </a:custGeom>
          <a:solidFill>
            <a:srgbClr val="c00000"/>
          </a:solidFill>
          <a:ln w="22225">
            <a:solidFill>
              <a:srgbClr val="8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Calibri"/>
                <a:ea typeface="Calibri"/>
              </a:rPr>
              <a:t>Actor principal que se beneficia del CU</a:t>
            </a:r>
            <a:endParaRPr b="0" lang="es-A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352;p16"/>
          <p:cNvSpPr/>
          <p:nvPr/>
        </p:nvSpPr>
        <p:spPr>
          <a:xfrm>
            <a:off x="4016880" y="2707560"/>
            <a:ext cx="1943640" cy="685080"/>
          </a:xfrm>
          <a:custGeom>
            <a:avLst/>
            <a:gdLst>
              <a:gd name="textAreaLeft" fmla="*/ 0 w 1943640"/>
              <a:gd name="textAreaRight" fmla="*/ 1944360 w 1943640"/>
              <a:gd name="textAreaTop" fmla="*/ 0 h 685080"/>
              <a:gd name="textAreaBottom" fmla="*/ 685800 h 68508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-10000" y="22500"/>
                </a:moveTo>
                <a:lnTo>
                  <a:pt x="-119005" y="23015"/>
                </a:lnTo>
              </a:path>
            </a:pathLst>
          </a:custGeom>
          <a:solidFill>
            <a:schemeClr val="accent1"/>
          </a:solidFill>
          <a:ln w="19050">
            <a:solidFill>
              <a:srgbClr val="433c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Calibri"/>
              </a:rPr>
              <a:t>Una descripción corta y precisa  del propósito del CU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353;p16"/>
          <p:cNvSpPr/>
          <p:nvPr/>
        </p:nvSpPr>
        <p:spPr>
          <a:xfrm>
            <a:off x="6918840" y="3810240"/>
            <a:ext cx="4210560" cy="1108080"/>
          </a:xfrm>
          <a:custGeom>
            <a:avLst/>
            <a:gdLst>
              <a:gd name="textAreaLeft" fmla="*/ 0 w 4210560"/>
              <a:gd name="textAreaRight" fmla="*/ 4211280 w 4210560"/>
              <a:gd name="textAreaTop" fmla="*/ 0 h 1108080"/>
              <a:gd name="textAreaBottom" fmla="*/ 1108800 h 110808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-10000" y="22500"/>
                </a:moveTo>
                <a:lnTo>
                  <a:pt x="-119005" y="23015"/>
                </a:lnTo>
              </a:path>
            </a:pathLst>
          </a:custGeom>
          <a:solidFill>
            <a:srgbClr val="7f7f7f"/>
          </a:solidFill>
          <a:ln w="22225">
            <a:solidFill>
              <a:srgbClr val="433c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Secuencia normal (sin errores ni condiciones) realizada por los actores y el sistema.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Debe representar la interacción entre el actor y el sistema.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Google Shape;354;p16"/>
          <p:cNvSpPr/>
          <p:nvPr/>
        </p:nvSpPr>
        <p:spPr>
          <a:xfrm>
            <a:off x="8122680" y="2612880"/>
            <a:ext cx="2925360" cy="1179360"/>
          </a:xfrm>
          <a:custGeom>
            <a:avLst/>
            <a:gdLst>
              <a:gd name="textAreaLeft" fmla="*/ 0 w 2925360"/>
              <a:gd name="textAreaRight" fmla="*/ 2926080 w 2925360"/>
              <a:gd name="textAreaTop" fmla="*/ 0 h 1179360"/>
              <a:gd name="textAreaBottom" fmla="*/ 1180080 h 117936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-10000" y="22500"/>
                </a:moveTo>
                <a:lnTo>
                  <a:pt x="-202931" y="102269"/>
                </a:lnTo>
              </a:path>
            </a:pathLst>
          </a:custGeom>
          <a:solidFill>
            <a:srgbClr val="00b050"/>
          </a:solidFill>
          <a:ln w="22225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Calibri"/>
              </a:rPr>
              <a:t>Una restricción del estado del  sistema antes de la ejecución del CU ( por ejemplo otro CU que debe ejecutarse previamente)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355;p16"/>
          <p:cNvSpPr/>
          <p:nvPr/>
        </p:nvSpPr>
        <p:spPr>
          <a:xfrm>
            <a:off x="7047720" y="4505040"/>
            <a:ext cx="2627640" cy="1108080"/>
          </a:xfrm>
          <a:custGeom>
            <a:avLst/>
            <a:gdLst>
              <a:gd name="textAreaLeft" fmla="*/ 0 w 2627640"/>
              <a:gd name="textAreaRight" fmla="*/ 2628360 w 2627640"/>
              <a:gd name="textAreaTop" fmla="*/ 0 h 1108080"/>
              <a:gd name="textAreaBottom" fmla="*/ 1108800 h 110808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-10000" y="22500"/>
                </a:moveTo>
                <a:lnTo>
                  <a:pt x="-119005" y="23015"/>
                </a:lnTo>
              </a:path>
            </a:pathLst>
          </a:custGeom>
          <a:solidFill>
            <a:schemeClr val="accent1"/>
          </a:solidFill>
          <a:ln w="22225">
            <a:solidFill>
              <a:srgbClr val="8778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Calibri"/>
              </a:rPr>
              <a:t>Describen el comportamiento si ocurre una excepción o variación del curso típico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.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Google Shape;356;p16"/>
          <p:cNvSpPr/>
          <p:nvPr/>
        </p:nvSpPr>
        <p:spPr>
          <a:xfrm>
            <a:off x="4793760" y="3715920"/>
            <a:ext cx="1943640" cy="1654920"/>
          </a:xfrm>
          <a:custGeom>
            <a:avLst/>
            <a:gdLst>
              <a:gd name="textAreaLeft" fmla="*/ 0 w 1943640"/>
              <a:gd name="textAreaRight" fmla="*/ 1944360 w 1943640"/>
              <a:gd name="textAreaTop" fmla="*/ 0 h 1654920"/>
              <a:gd name="textAreaBottom" fmla="*/ 1655640 h 1654920"/>
            </a:gdLst>
            <a:ahLst/>
            <a:rect l="textAreaLeft" t="textAreaTop" r="textAreaRight" b="textAreaBottom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fill="none" w="120000" h="120000">
                <a:moveTo>
                  <a:pt x="-10000" y="22500"/>
                </a:moveTo>
                <a:lnTo>
                  <a:pt x="-202931" y="102269"/>
                </a:lnTo>
              </a:path>
            </a:pathLst>
          </a:custGeom>
          <a:solidFill>
            <a:srgbClr val="7030a0"/>
          </a:solidFill>
          <a:ln w="22225">
            <a:solidFill>
              <a:srgbClr val="7030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libri"/>
                <a:ea typeface="Calibri"/>
              </a:rPr>
              <a:t>Restricción del estado del sistema después de la finalización exitosa del CU 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4" dur="indefinite" restart="never" nodeType="tmRoot">
          <p:childTnLst>
            <p:seq>
              <p:cTn id="115" dur="indefinite" nodeType="mainSeq">
                <p:childTnLst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5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0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Proceso de modelado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1775520" y="2421000"/>
            <a:ext cx="754308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59200" indent="-259200">
              <a:lnSpc>
                <a:spcPct val="85000"/>
              </a:lnSpc>
              <a:buClr>
                <a:srgbClr val="549e39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Pasos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Identificar a los actores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Identificar los CU para los requerimientos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Construir el diagrama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Realizar los escenarios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/>
          </p:nvPr>
        </p:nvSpPr>
        <p:spPr>
          <a:xfrm>
            <a:off x="6793200" y="6491160"/>
            <a:ext cx="4190400" cy="35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68760"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1390" spc="-1" strike="noStrike">
                <a:solidFill>
                  <a:schemeClr val="dk2"/>
                </a:solidFill>
                <a:latin typeface="Calibri"/>
                <a:ea typeface="Calibri"/>
              </a:rPr>
              <a:t>Whitten y Bentley </a:t>
            </a: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 type="sldNum" idx="50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7C8B0C-99D2-4053-9412-7740A1680576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Proceso de modelado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1343520" y="1845000"/>
            <a:ext cx="992844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lvl="1" marL="260640" indent="-257040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Identificar a los actores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¿Dónde buscar actores potenciales?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Documentación o manuales existentes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Minutas de reunión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Documentos de requerimientos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Responder a: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¿Quién o qué proporciona las entradas al sistema?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¿Quién o qué recibe las salidas del sistema?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¿Se requieren interfaces con otros sistemas?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¿Quién mantendrá la información en el sistema?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  <a:tabLst>
                <a:tab algn="l" pos="0"/>
              </a:tabLst>
            </a:pPr>
            <a:r>
              <a:rPr b="0" lang="en-US" sz="2400" spc="-1" strike="noStrike">
                <a:solidFill>
                  <a:srgbClr val="c00000"/>
                </a:solidFill>
                <a:latin typeface="Calibri"/>
                <a:ea typeface="Calibri"/>
              </a:rPr>
              <a:t>Deberán nombrarse con un sustantivo o frase sustantiva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1740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51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35707C-20FD-453C-B010-B88B31F9F67A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Proceso de modelado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1516680" y="1838520"/>
            <a:ext cx="754308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lvl="1" marL="260640" indent="-257040">
              <a:lnSpc>
                <a:spcPct val="85000"/>
              </a:lnSpc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Identificar a los actores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Identificar los CU para los requerimientos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2" marL="411480" indent="-4114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Responder a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¿Cuáles son las principales tareas del actor?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¿Qué información necesita el actor del sistema?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¿Qué información proporciona el actor al sistema?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¿Necesita el sistema informar al actor de eventos o cambios ocurridos?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617400" indent="-61740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¿Necesita el actor informar al sistema de eventos o cambios ocurridos?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Construir el diagrama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 "/>
            </a:pPr>
            <a:r>
              <a:rPr b="1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Realizar los escenarios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52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D682AD-9EC9-41A1-B254-D017BDCE33BF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Características importantes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983520" y="2133000"/>
            <a:ext cx="9864360" cy="402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lvl="1" marL="346320" indent="-343080" algn="just">
              <a:lnSpc>
                <a:spcPct val="85000"/>
              </a:lnSpc>
              <a:buClr>
                <a:srgbClr val="262626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Un CU debe representar una funcionalidad concreta.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La descripción de los pasos en los escenarios debe contener más de un paso, para representar la interacción entre los componentes.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El uso de condicionales en el curso normal, es limitado a la invocación de excepciones, ya que este flujo representa la ejecución del caso sin alteraciones.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Las pre-condiciones no deben representarse en los cursos alternativos, ya que al ser una pre-condición no va a ocurrir.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 algn="just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Los “uses” deben ser accedidos por lo menos desde dos CU.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53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A69D9D-E1A6-407F-864A-941ED0134070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1" dur="indefinite" restart="never" nodeType="tmRoot">
          <p:childTnLst>
            <p:seq>
              <p:cTn id="152" dur="indefinite" nodeType="mainSeq">
                <p:childTnLst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7" dur="500"/>
                                        <p:tgtEl>
                                          <p:spTgt spid="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2" dur="500"/>
                                        <p:tgtEl>
                                          <p:spTgt spid="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7" dur="500"/>
                                        <p:tgtEl>
                                          <p:spTgt spid="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2" dur="500"/>
                                        <p:tgtEl>
                                          <p:spTgt spid="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7" dur="500"/>
                                        <p:tgtEl>
                                          <p:spTgt spid="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Ejemplo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1127520" y="2061000"/>
            <a:ext cx="10080360" cy="402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just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Un sitio web brinda información acerca de los artículos periodísticos más destacados de la semana. La información puede ser accedida por usuarios registrados o anónimos. A los usuarios registrados se les permite leer y/o descargar los artículos. Si el artículo tiene categoría “exclusiva” la descarga del artículo tendrá un costo. El pago es mediante tarjeta de crédito.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A los usuarios anónimos sólo se les permite leer los artículos.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Un usuario anónimo puede registrarse y pasar a ser un usuario registrado, para lo cual debe completar los datos personales, ingresar el número de tarjeta de crédito a la que se cargará el monto mensual del abono.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Los usuarios registrados pueden modificar sus datos personales.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54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A7B9BA-E512-4E16-9E8C-070FE94B0618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Ejemplo - Actores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/>
          </p:nvPr>
        </p:nvSpPr>
        <p:spPr>
          <a:xfrm>
            <a:off x="1127520" y="2061000"/>
            <a:ext cx="10080360" cy="402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just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Un sitio web brinda información acerca de los artículos periodísticos más destacados de la semana. La información puede ser accedida por usuarios registrados o anónimos. A los usuarios registrados se les permite leer y/o descargar los artículos. Si el artículo tiene categoría “exclusiva” la descarga del artículo tendrá un costo. El pago es mediante tarjeta de crédito.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A los usuarios anónimos sólo se les permite leer los artículos.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Un usuario anónimo puede registrarse y pasar a ser un usuario registrado, para lo cual debe completar los datos personales, ingresar el número de tarjeta de crédito a la que se cargará el monto mensual del abono.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Los usuarios registrados pueden modificar sus datos personales.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55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AD1422-DF0B-40A4-B00B-5EC12659C6B3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Google Shape;400;p24"/>
          <p:cNvSpPr/>
          <p:nvPr/>
        </p:nvSpPr>
        <p:spPr>
          <a:xfrm>
            <a:off x="1127520" y="2713680"/>
            <a:ext cx="1540440" cy="28728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1" name="Google Shape;401;p24"/>
          <p:cNvSpPr/>
          <p:nvPr/>
        </p:nvSpPr>
        <p:spPr>
          <a:xfrm>
            <a:off x="2983680" y="2713680"/>
            <a:ext cx="1381680" cy="29556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2" name="Google Shape;402;p24"/>
          <p:cNvSpPr/>
          <p:nvPr/>
        </p:nvSpPr>
        <p:spPr>
          <a:xfrm>
            <a:off x="6744240" y="3357000"/>
            <a:ext cx="2231640" cy="28728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8" dur="indefinite" restart="never" nodeType="tmRoot">
          <p:childTnLst>
            <p:seq>
              <p:cTn id="179" dur="indefinite" nodeType="mainSeq">
                <p:childTnLst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623520" y="49968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Ejemplo – Casos de Uso 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/>
          </p:nvPr>
        </p:nvSpPr>
        <p:spPr>
          <a:xfrm>
            <a:off x="1127520" y="2061000"/>
            <a:ext cx="10080360" cy="402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just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Un sitio web brinda información acerca de los artículos periodísticos más destacados de la semana. La información puede ser accedida por usuarios registrados o anónimos. A los usuarios registrados se les permite leer y/o descargar los artículos. Si el artículo tiene categoría “exclusiva” la descarga del artículo tendrá un costo. El pago es mediante tarjeta de crédito.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A los usuarios anónimos sólo se les permite leer los artículos.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Un usuario anónimo puede registrarse y pasar a ser un usuario registrado, para lo cual debe completar los datos personales, ingresar el número de tarjeta de crédito a la que se cargará el monto mensual del abono.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3f3f3f"/>
                </a:solidFill>
                <a:latin typeface="Calibri"/>
                <a:ea typeface="Calibri"/>
              </a:rPr>
              <a:t>Los usuarios registrados pueden modificar sus datos personales.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68760" indent="0" algn="just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56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51BEB9-A899-4851-ABB4-10E0BC29F52E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Google Shape;410;p25"/>
          <p:cNvSpPr/>
          <p:nvPr/>
        </p:nvSpPr>
        <p:spPr>
          <a:xfrm>
            <a:off x="9984600" y="2756520"/>
            <a:ext cx="647280" cy="23976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7" name="Google Shape;411;p25"/>
          <p:cNvSpPr/>
          <p:nvPr/>
        </p:nvSpPr>
        <p:spPr>
          <a:xfrm>
            <a:off x="1199520" y="2997000"/>
            <a:ext cx="2879640" cy="35928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8" name="Google Shape;412;p25"/>
          <p:cNvSpPr/>
          <p:nvPr/>
        </p:nvSpPr>
        <p:spPr>
          <a:xfrm>
            <a:off x="2207520" y="3371040"/>
            <a:ext cx="1936080" cy="35928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9" name="Google Shape;413;p25"/>
          <p:cNvSpPr/>
          <p:nvPr/>
        </p:nvSpPr>
        <p:spPr>
          <a:xfrm>
            <a:off x="4655880" y="4221000"/>
            <a:ext cx="1367280" cy="28728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30" name="Google Shape;414;p25"/>
          <p:cNvSpPr/>
          <p:nvPr/>
        </p:nvSpPr>
        <p:spPr>
          <a:xfrm>
            <a:off x="5159880" y="5301360"/>
            <a:ext cx="3887640" cy="28728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2" dur="indefinite" restart="never" nodeType="tmRoot">
          <p:childTnLst>
            <p:seq>
              <p:cTn id="193" dur="indefinite" nodeType="mainSeq">
                <p:childTnLst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7680" cy="145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Ejemplo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/>
          </p:nvPr>
        </p:nvSpPr>
        <p:spPr>
          <a:xfrm>
            <a:off x="407520" y="1917000"/>
            <a:ext cx="10972080" cy="4175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rmAutofit/>
          </a:bodyPr>
          <a:p>
            <a:pPr marL="68760" indent="-127080">
              <a:lnSpc>
                <a:spcPct val="85000"/>
              </a:lnSpc>
              <a:buClr>
                <a:srgbClr val="549e39"/>
              </a:buClr>
              <a:buFont typeface="Calibri"/>
              <a:buChar char=" "/>
            </a:pPr>
            <a:r>
              <a:rPr b="1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Identificar los actores: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Usuario Anónimo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Usuario Registrado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Servidor Externo (Banco)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68760" indent="-127080">
              <a:lnSpc>
                <a:spcPct val="85000"/>
              </a:lnSpc>
              <a:spcBef>
                <a:spcPts val="975"/>
              </a:spcBef>
              <a:buClr>
                <a:srgbClr val="549e39"/>
              </a:buClr>
              <a:buFont typeface="Calibri"/>
              <a:buChar char=" "/>
            </a:pPr>
            <a:r>
              <a:rPr b="1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Identificar casos de uso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Leer Artículo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Descargar Artículo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Registrar usuario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Modificar Datos Personales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Iniciar Sesión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Cerrar Sesión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260640" indent="-25704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Calibri"/>
              <a:buChar char="◦"/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Verificar Tarjeta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57"/>
          </p:nvPr>
        </p:nvSpPr>
        <p:spPr>
          <a:xfrm>
            <a:off x="9900360" y="6459840"/>
            <a:ext cx="13111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8D7D55-E52B-40FA-8EBB-1350C1BF258E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Google Shape;422;p26"/>
          <p:cNvSpPr/>
          <p:nvPr/>
        </p:nvSpPr>
        <p:spPr>
          <a:xfrm>
            <a:off x="695520" y="2853000"/>
            <a:ext cx="2735640" cy="43128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35" name="Google Shape;423;p26"/>
          <p:cNvSpPr/>
          <p:nvPr/>
        </p:nvSpPr>
        <p:spPr>
          <a:xfrm>
            <a:off x="691920" y="5517360"/>
            <a:ext cx="2735640" cy="43128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70c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AR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793800" y="208440"/>
            <a:ext cx="8743320" cy="194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Ejemplo - Diagrama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sldNum" idx="58"/>
          </p:nvPr>
        </p:nvSpPr>
        <p:spPr>
          <a:xfrm>
            <a:off x="9900360" y="6459840"/>
            <a:ext cx="13111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C4A812-2321-443C-8B4A-DF98E57A006D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38" name="Google Shape;431;p27" descr=""/>
          <p:cNvPicPr/>
          <p:nvPr/>
        </p:nvPicPr>
        <p:blipFill>
          <a:blip r:embed="rId1"/>
          <a:stretch/>
        </p:blipFill>
        <p:spPr>
          <a:xfrm>
            <a:off x="3447720" y="1393200"/>
            <a:ext cx="5609160" cy="486324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097280" y="239040"/>
            <a:ext cx="10568160" cy="74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3f3f3f"/>
                </a:solidFill>
                <a:latin typeface="Calibri"/>
                <a:ea typeface="Calibri"/>
              </a:rPr>
              <a:t>Casos de uso – Ejemplo- Escenarios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sldNum" idx="59"/>
          </p:nvPr>
        </p:nvSpPr>
        <p:spPr>
          <a:xfrm>
            <a:off x="9900360" y="6459840"/>
            <a:ext cx="13111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AAFEC2-729F-424B-BD76-FD9C7F86E56F}" type="slidenum"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105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441" name="Google Shape;442;p30"/>
          <p:cNvGraphicFramePr/>
          <p:nvPr/>
        </p:nvGraphicFramePr>
        <p:xfrm>
          <a:off x="2001240" y="980640"/>
          <a:ext cx="8224560" cy="4928040"/>
        </p:xfrm>
        <a:graphic>
          <a:graphicData uri="http://schemas.openxmlformats.org/drawingml/2006/table">
            <a:tbl>
              <a:tblPr/>
              <a:tblGrid>
                <a:gridCol w="2260440"/>
                <a:gridCol w="2982240"/>
                <a:gridCol w="2982240"/>
              </a:tblGrid>
              <a:tr h="294840">
                <a:tc>
                  <a:txBody>
                    <a:bodyPr lIns="37800" rIns="378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Nombre del caso de uso: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100440" rIns="10044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Iniciar sesión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0440" marR="100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02920">
                <a:tc>
                  <a:txBody>
                    <a:bodyPr lIns="37800" rIns="378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Descripción: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100440" rIns="10044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</a:rPr>
                        <a:t>Este caso de uso describe el evento en el que un usuario registrado inicia sesión con su nombre de usuario y contraseña.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0440" marR="100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98880">
                <a:tc>
                  <a:txBody>
                    <a:bodyPr lIns="37800" rIns="378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Actores: 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100440" rIns="10044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</a:rPr>
                        <a:t>Usuario Registrado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0440" marR="100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98880">
                <a:tc>
                  <a:txBody>
                    <a:bodyPr lIns="37800" rIns="378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Precondiciones: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100440" rIns="10044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</a:rPr>
                        <a:t>---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0440" marR="100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94840">
                <a:tc rowSpan="2">
                  <a:txBody>
                    <a:bodyPr lIns="100440" rIns="10044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Curso Normal: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0440" marR="100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Acción del Actor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marL="343080" indent="-343080"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Respuesta del Sistema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04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Paso 1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: el usuario selecciona la opción de iniciar sesión.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43080" indent="-34308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Paso 3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: el usuario ingresa el nombre de usuario y la contraseña.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43080" indent="-34308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</a:tabLst>
                      </a:pP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7800" rIns="37800" anchor="t">
                      <a:noAutofit/>
                    </a:bodyPr>
                    <a:p>
                      <a:pPr marL="343080" indent="-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Paso 2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: el sistema presenta la pantalla donde se solicita al usuario y contraseña.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43080" indent="-34308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Paso 4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: el sistema verifica el nombre de usuario y contraseña.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343080" indent="-34308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Paso 5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: el sistema inicia la sesión y presenta la pantalla principal.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9520">
                <a:tc>
                  <a:txBody>
                    <a:bodyPr lIns="37800" rIns="37800" anchor="t">
                      <a:noAutofit/>
                    </a:bodyPr>
                    <a:p>
                      <a:pPr marL="343080" indent="-34308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</a:rPr>
                        <a:t>Curso Alterno: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100440" rIns="100440" anchor="t">
                      <a:noAutofit/>
                    </a:bodyPr>
                    <a:p>
                      <a:pPr marL="343080" indent="-34308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Paso alternativo 4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: el usuario o la contraseña no son válidas. Se notifica la discrepancia. Vuelve al paso 2.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0440" marR="100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73840">
                <a:tc>
                  <a:txBody>
                    <a:bodyPr lIns="37800" rIns="37800" anchor="t">
                      <a:noAutofit/>
                    </a:bodyPr>
                    <a:p>
                      <a:pPr marL="343080" indent="-34308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</a:rPr>
                        <a:t>Postcondición: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lIns="100440" rIns="100440" anchor="t">
                      <a:noAutofit/>
                    </a:bodyPr>
                    <a:p>
                      <a:pPr marL="343080" indent="-34308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</a:rPr>
                        <a:t>La sesión ha sido iniciada exitosamente y las opciones para usuarios registrados aparecen habilitadas.</a:t>
                      </a:r>
                      <a:endParaRPr b="0" lang="es-AR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0440" marR="100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s-A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1385280" y="403560"/>
            <a:ext cx="1080576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3f3f3f"/>
                </a:solidFill>
                <a:latin typeface="Calibri"/>
                <a:ea typeface="Calibri"/>
              </a:rPr>
              <a:t>Bibliografía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1847520" y="1845720"/>
            <a:ext cx="8042400" cy="402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Libros Utilizados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Sommerville Ian,  Capítulos 4, Ingeniería de software, Addison Wesley 2011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1" marL="346320" indent="-343080">
              <a:lnSpc>
                <a:spcPct val="85000"/>
              </a:lnSpc>
              <a:spcBef>
                <a:spcPts val="451"/>
              </a:spcBef>
              <a:buClr>
                <a:srgbClr val="262626"/>
              </a:buClr>
              <a:buFont typeface="Noto Sans Symbols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rgbClr val="3f3f3f"/>
                </a:solidFill>
                <a:latin typeface="Calibri"/>
                <a:ea typeface="Calibri"/>
              </a:rPr>
              <a:t>Whitten y Bentley, Análisis de Sistemas Diseño y Métodos, Capítulo 6, Mc Graw Hill 2008.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7340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11480" indent="0">
              <a:lnSpc>
                <a:spcPct val="85000"/>
              </a:lnSpc>
              <a:spcBef>
                <a:spcPts val="975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73400" indent="0">
              <a:lnSpc>
                <a:spcPct val="85000"/>
              </a:lnSpc>
              <a:spcBef>
                <a:spcPts val="451"/>
              </a:spcBef>
              <a:buNone/>
              <a:tabLst>
                <a:tab algn="l" pos="0"/>
              </a:tabLst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60"/>
          </p:nvPr>
        </p:nvSpPr>
        <p:spPr>
          <a:xfrm>
            <a:off x="9266040" y="2781000"/>
            <a:ext cx="2925360" cy="139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7700" spc="-1" strike="noStrike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8FBFD8-4A71-4189-9064-5E0689E874C5}" type="slidenum">
              <a:rPr b="0" lang="en-US" sz="7700" spc="-1" strike="noStrike">
                <a:solidFill>
                  <a:srgbClr val="ffffff"/>
                </a:solidFill>
                <a:latin typeface="Calibri"/>
                <a:ea typeface="Calibri"/>
              </a:rPr>
              <a:t>&lt;número&gt;</a:t>
            </a:fld>
            <a:endParaRPr b="0" lang="es-AR" sz="77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Application>LibreOffice/7.5.9.2$Linux_X86_64 LibreOffice_project/50$Build-2</Application>
  <AppVersion>15.0000</AppVersion>
  <Words>2772</Words>
  <Paragraphs>409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2011-08-01T13:16:26Z</dcterms:created>
  <dc:creator>Ariel</dc:creator>
  <dc:description/>
  <dc:language>es-AR</dc:language>
  <cp:lastModifiedBy/>
  <dcterms:modified xsi:type="dcterms:W3CDTF">2025-09-24T18:05:39Z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43</vt:i4>
  </property>
  <property fmtid="{D5CDD505-2E9C-101B-9397-08002B2CF9AE}" pid="3" name="PresentationFormat">
    <vt:lpwstr>Panorámica</vt:lpwstr>
  </property>
  <property fmtid="{D5CDD505-2E9C-101B-9397-08002B2CF9AE}" pid="4" name="Slides">
    <vt:i4>45</vt:i4>
  </property>
</Properties>
</file>